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" name="Google Shape;1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Hello everyone. We are Raquel and Effie, and today we are going to present our project: Meat Consumption Around the World. </a:t>
            </a:r>
            <a:endParaRPr/>
          </a:p>
        </p:txBody>
      </p:sp>
      <p:sp>
        <p:nvSpPr>
          <p:cNvPr id="16" name="Google Shape;16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To guide our project o</a:t>
            </a:r>
            <a:r>
              <a:rPr lang="en-US"/>
              <a:t>ur main questions were: how does meat consumption differ between continents? what factors may explain these differences, and how meat consumption has changed over time.</a:t>
            </a:r>
            <a:endParaRPr/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" name="Google Shape;3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First, we looked at individual countries.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We found a very large difference between countries.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Meat consumption ranges from only 3.5 kilograms to 136 kilograms per person per year.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already shows us that eating habits are very different around the world.</a:t>
            </a:r>
            <a:endParaRPr/>
          </a:p>
        </p:txBody>
      </p:sp>
      <p:sp>
        <p:nvSpPr>
          <p:cNvPr id="39" name="Google Shape;3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" name="Google Shape;4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Now, if we look at the continents, the differences become even clearer.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North America consumes about six times more meat per person than Africa.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North America is at around 100.8 kilograms per person, while Africa is at only 16.7 kilograms.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 can also see three main groups: the Americas and Oceania have the highest levels, Europe is in the middle, and Asia and Africa have lower levels.</a:t>
            </a:r>
            <a:endParaRPr/>
          </a:p>
        </p:txBody>
      </p:sp>
      <p:sp>
        <p:nvSpPr>
          <p:cNvPr id="50" name="Google Shape;5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Next, we looked at how meat consumption changed between 1960 and 2023.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Asia had the biggest increase, growing by 591 percent.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Oceania was different because consumption changed with minus 4</a:t>
            </a:r>
            <a:br>
              <a:rPr lang="en-US"/>
            </a:br>
            <a:r>
              <a:rPr lang="en-US"/>
              <a:t>%</a:t>
            </a:r>
            <a:endParaRPr/>
          </a:p>
        </p:txBody>
      </p:sp>
      <p:sp>
        <p:nvSpPr>
          <p:cNvPr id="64" name="Google Shape;6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But it is not only about how much meat people eat. We also looked at what types of meat they eat.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Poultry is the most consumed meat in North America, South America, Oceania and Africa.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In Europe and Asia, pork is the most consumed type.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For that, So, e</a:t>
            </a:r>
            <a:r>
              <a:rPr lang="en-US"/>
              <a:t>very second, around 10 cows, 47 pigs and 2,400 chickens are slaughtered for meat consumptionn.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The number of chickens is especially high compared with the other animals.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helps us understand the scale of global meat production.</a:t>
            </a:r>
            <a:endParaRPr/>
          </a:p>
        </p:txBody>
      </p:sp>
      <p:sp>
        <p:nvSpPr>
          <p:cNvPr id="99" name="Google Shape;9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h68cf668ec73d9e28_1_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h68cf668ec73d9e28_1_7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We also wanted to look at GDP per capita and see if there is a relationship between income and meat consumption.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allows us to explore whether countries with higher income also tend to have higher meat consumption. </a:t>
            </a:r>
            <a:endParaRPr/>
          </a:p>
        </p:txBody>
      </p:sp>
      <p:sp>
        <p:nvSpPr>
          <p:cNvPr id="145" name="Google Shape;145;h68cf668ec73d9e28_1_7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h5103e9fb49b3e5d_0_1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h5103e9fb49b3e5d_0_1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4" name="Google Shape;154;h5103e9fb49b3e5d_0_1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h4327c752344abcd_7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h4327c752344abcd_7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9" name="Google Shape;169;h4327c752344abcd_7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We then decided to look at a smaller group of countries, including countries connected to our class.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Argentina has the highest consumption, at around 115 kilograms per person, and the type of meat </a:t>
            </a:r>
            <a:r>
              <a:rPr lang="en-US"/>
              <a:t>which</a:t>
            </a:r>
            <a:r>
              <a:rPr lang="en-US"/>
              <a:t> is more consumed is cow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Brazil is second, with 104.6 kilograms , and Spain is third, with 100.8 kilograms. </a:t>
            </a:r>
            <a:endParaRPr/>
          </a:p>
        </p:txBody>
      </p:sp>
      <p:sp>
        <p:nvSpPr>
          <p:cNvPr id="206" name="Google Shape;20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h68cf668ec73d9e28_3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h68cf668ec73d9e28_3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However, the ranking changes when we include fish and seafood.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Portugal moves to first place, with 152.8 kilograms per person.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Spain is second with 137.7 kilograms, and Argentina is third with 122.1 kilograms.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shows why the definition of what we measure is important when we compare countries.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h68cf668ec73d9e28_3_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0" name="Google Shape;33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So, what did we learn from our analysis?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First, there are very large differences between continents. North America consumes about six times more meat per person than Africa.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Second, poultry is the main type of meat in several continents, while pork is more important in Europe and Asia.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Third, Asia had the biggest increase in meat consumption since 1960.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/>
              <a:t>Would be </a:t>
            </a:r>
            <a:r>
              <a:rPr lang="en-US"/>
              <a:t>interesting</a:t>
            </a:r>
            <a:r>
              <a:rPr lang="en-US"/>
              <a:t>  to do </a:t>
            </a:r>
            <a:r>
              <a:rPr lang="en-US" sz="1250">
                <a:solidFill>
                  <a:srgbClr val="5F6B76"/>
                </a:solidFill>
              </a:rPr>
              <a:t>a</a:t>
            </a:r>
            <a:r>
              <a:rPr lang="en-US" sz="1250">
                <a:solidFill>
                  <a:srgbClr val="5F6B76"/>
                </a:solidFill>
              </a:rPr>
              <a:t> more detailed project how could link food waste to meat consumption.</a:t>
            </a:r>
            <a:endParaRPr sz="1250">
              <a:solidFill>
                <a:srgbClr val="5F6B76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50">
                <a:solidFill>
                  <a:srgbClr val="5F6B76"/>
                </a:solidFill>
              </a:rPr>
              <a:t>We need to start to take care about our planet and about every living beings that live in there.</a:t>
            </a:r>
            <a:endParaRPr sz="1250">
              <a:solidFill>
                <a:srgbClr val="5F6B76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Overall, our analysis shows that meat consumption is very different depending on the region, the type of meat, and the period we look at.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8" name="Google Shape;35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Thank you for listening.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We hope our analysis gave you a better understanding of meat consumption around the world.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 are happy to answer any questions. </a:t>
            </a:r>
            <a:endParaRPr/>
          </a:p>
        </p:txBody>
      </p:sp>
      <p:sp>
        <p:nvSpPr>
          <p:cNvPr id="359" name="Google Shape;35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Relationship Id="rId4" Type="http://schemas.openxmlformats.org/officeDocument/2006/relationships/image" Target="../media/image3.png"/><Relationship Id="rId11" Type="http://schemas.openxmlformats.org/officeDocument/2006/relationships/image" Target="../media/image4.png"/><Relationship Id="rId10" Type="http://schemas.openxmlformats.org/officeDocument/2006/relationships/image" Target="../media/image9.png"/><Relationship Id="rId9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1.png"/><Relationship Id="rId7" Type="http://schemas.openxmlformats.org/officeDocument/2006/relationships/image" Target="../media/image10.png"/><Relationship Id="rId8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7.png"/><Relationship Id="rId4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2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1" Type="http://schemas.openxmlformats.org/officeDocument/2006/relationships/image" Target="../media/image14.png"/><Relationship Id="rId10" Type="http://schemas.openxmlformats.org/officeDocument/2006/relationships/image" Target="../media/image16.png"/><Relationship Id="rId13" Type="http://schemas.openxmlformats.org/officeDocument/2006/relationships/image" Target="../media/image18.png"/><Relationship Id="rId1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4.png"/><Relationship Id="rId4" Type="http://schemas.openxmlformats.org/officeDocument/2006/relationships/image" Target="../media/image9.png"/><Relationship Id="rId9" Type="http://schemas.openxmlformats.org/officeDocument/2006/relationships/image" Target="../media/image15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22.png"/><Relationship Id="rId8" Type="http://schemas.openxmlformats.org/officeDocument/2006/relationships/image" Target="../media/image2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2A33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/>
          <p:nvPr/>
        </p:nvSpPr>
        <p:spPr>
          <a:xfrm>
            <a:off x="6035040" y="-1097280"/>
            <a:ext cx="4572000" cy="4572000"/>
          </a:xfrm>
          <a:prstGeom prst="ellipse">
            <a:avLst/>
          </a:prstGeom>
          <a:solidFill>
            <a:srgbClr val="FFFFFF">
              <a:alpha val="7059"/>
            </a:srgbClr>
          </a:solidFill>
          <a:ln cap="flat" cmpd="sng" w="12700">
            <a:solidFill>
              <a:srgbClr val="1F2A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7132320" y="2560320"/>
            <a:ext cx="3291840" cy="3291840"/>
          </a:xfrm>
          <a:prstGeom prst="ellipse">
            <a:avLst/>
          </a:prstGeom>
          <a:solidFill>
            <a:srgbClr val="E9A23B">
              <a:alpha val="14902"/>
            </a:srgbClr>
          </a:solidFill>
          <a:ln cap="flat" cmpd="sng" w="12700">
            <a:solidFill>
              <a:srgbClr val="1F2A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 txBox="1"/>
          <p:nvPr/>
        </p:nvSpPr>
        <p:spPr>
          <a:xfrm>
            <a:off x="674245" y="1885948"/>
            <a:ext cx="64008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Georgia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Meat Consumption Around the World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 txBox="1"/>
          <p:nvPr/>
        </p:nvSpPr>
        <p:spPr>
          <a:xfrm>
            <a:off x="674245" y="3257538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DEE3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D9DEE3"/>
                </a:solidFill>
                <a:latin typeface="Calibri"/>
                <a:ea typeface="Calibri"/>
                <a:cs typeface="Calibri"/>
                <a:sym typeface="Calibri"/>
              </a:rPr>
              <a:t>Trends and differences across continents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 txBox="1"/>
          <p:nvPr/>
        </p:nvSpPr>
        <p:spPr>
          <a:xfrm>
            <a:off x="674245" y="4567125"/>
            <a:ext cx="6400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A23B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9A23B"/>
                </a:solidFill>
                <a:latin typeface="Calibri"/>
                <a:ea typeface="Calibri"/>
                <a:cs typeface="Calibri"/>
                <a:sym typeface="Calibri"/>
              </a:rPr>
              <a:t>Raquel Marques &amp; Effie Carvalho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 txBox="1"/>
          <p:nvPr>
            <p:ph idx="4294967295" type="sldNum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5F6B7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3">
            <a:alphaModFix/>
          </a:blip>
          <a:srcRect b="38211" l="0" r="0" t="36208"/>
          <a:stretch/>
        </p:blipFill>
        <p:spPr>
          <a:xfrm>
            <a:off x="0" y="0"/>
            <a:ext cx="9144003" cy="1553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/>
          <p:nvPr/>
        </p:nvSpPr>
        <p:spPr>
          <a:xfrm>
            <a:off x="548650" y="1444275"/>
            <a:ext cx="4626900" cy="3036300"/>
          </a:xfrm>
          <a:prstGeom prst="roundRect">
            <a:avLst>
              <a:gd fmla="val 3380" name="adj"/>
            </a:avLst>
          </a:prstGeom>
          <a:solidFill>
            <a:srgbClr val="FFFFFF"/>
          </a:solidFill>
          <a:ln cap="flat" cmpd="sng" w="9525">
            <a:solidFill>
              <a:srgbClr val="E3E6E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/>
          <p:cNvSpPr txBox="1"/>
          <p:nvPr/>
        </p:nvSpPr>
        <p:spPr>
          <a:xfrm>
            <a:off x="548640" y="274320"/>
            <a:ext cx="8046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442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B5442F"/>
                </a:solidFill>
                <a:latin typeface="Calibri"/>
                <a:ea typeface="Calibri"/>
                <a:cs typeface="Calibri"/>
                <a:sym typeface="Calibri"/>
              </a:rPr>
              <a:t>OUR QUESTION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 txBox="1"/>
          <p:nvPr/>
        </p:nvSpPr>
        <p:spPr>
          <a:xfrm>
            <a:off x="548640" y="548640"/>
            <a:ext cx="80466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3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1F2A33"/>
                </a:solidFill>
                <a:latin typeface="Georgia"/>
                <a:ea typeface="Georgia"/>
                <a:cs typeface="Georgia"/>
                <a:sym typeface="Georgia"/>
              </a:rPr>
              <a:t>What are we trying to find out?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 txBox="1"/>
          <p:nvPr/>
        </p:nvSpPr>
        <p:spPr>
          <a:xfrm>
            <a:off x="868680" y="1600200"/>
            <a:ext cx="411480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3"/>
              </a:buClr>
              <a:buSzPts val="2100"/>
              <a:buFont typeface="Georgia"/>
              <a:buNone/>
            </a:pPr>
            <a:r>
              <a:rPr b="0" i="0" lang="en-US" sz="2100" u="none" cap="none" strike="noStrike">
                <a:solidFill>
                  <a:srgbClr val="1F2A33"/>
                </a:solidFill>
                <a:latin typeface="Georgia"/>
                <a:ea typeface="Georgia"/>
                <a:cs typeface="Georgia"/>
                <a:sym typeface="Georgia"/>
              </a:rPr>
              <a:t>How does meat consumption differ across continents</a:t>
            </a:r>
            <a:r>
              <a:rPr b="0" i="0" lang="en-US" sz="2100" u="none" cap="none" strike="noStrike">
                <a:solidFill>
                  <a:srgbClr val="1F2A33"/>
                </a:solidFill>
                <a:latin typeface="Georgia"/>
                <a:ea typeface="Georgia"/>
                <a:cs typeface="Georgia"/>
                <a:sym typeface="Georgia"/>
              </a:rPr>
              <a:t>, w</a:t>
            </a:r>
            <a:r>
              <a:rPr b="0" i="0" lang="en-US" sz="2100" u="none" cap="none" strike="noStrike">
                <a:solidFill>
                  <a:srgbClr val="1F2A33"/>
                </a:solidFill>
                <a:latin typeface="Georgia"/>
                <a:ea typeface="Georgia"/>
                <a:cs typeface="Georgia"/>
                <a:sym typeface="Georgia"/>
              </a:rPr>
              <a:t>hat factors may explain these differences, and how has consumption changed over time?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 txBox="1"/>
          <p:nvPr>
            <p:ph idx="4294967295" type="sldNum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5F6B7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" name="Google Shape;35;p4"/>
          <p:cNvPicPr preferRelativeResize="0"/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5714983" y="-1"/>
            <a:ext cx="3429018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"/>
          <p:cNvSpPr txBox="1"/>
          <p:nvPr/>
        </p:nvSpPr>
        <p:spPr>
          <a:xfrm>
            <a:off x="548640" y="274320"/>
            <a:ext cx="8046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442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B5442F"/>
                </a:solidFill>
                <a:latin typeface="Calibri"/>
                <a:ea typeface="Calibri"/>
                <a:cs typeface="Calibri"/>
                <a:sym typeface="Calibri"/>
              </a:rPr>
              <a:t>COUNTRY EXTREMES </a:t>
            </a:r>
            <a:r>
              <a:rPr b="1" lang="en-US" sz="1100">
                <a:solidFill>
                  <a:srgbClr val="B5442F"/>
                </a:solidFill>
                <a:latin typeface="Calibri"/>
                <a:ea typeface="Calibri"/>
                <a:cs typeface="Calibri"/>
                <a:sym typeface="Calibri"/>
              </a:rPr>
              <a:t>THE GLOBAL PICTURE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5"/>
          <p:cNvSpPr txBox="1"/>
          <p:nvPr/>
        </p:nvSpPr>
        <p:spPr>
          <a:xfrm>
            <a:off x="548640" y="548640"/>
            <a:ext cx="8046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3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1F2A33"/>
                </a:solidFill>
                <a:latin typeface="Georgia"/>
                <a:ea typeface="Georgia"/>
                <a:cs typeface="Georgia"/>
                <a:sym typeface="Georgia"/>
              </a:rPr>
              <a:t>Across 169 countries, meat intake ranges from 3.5 to 136 kg per person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5"/>
          <p:cNvSpPr txBox="1"/>
          <p:nvPr>
            <p:ph idx="4294967295" type="sldNum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5F6B7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5"/>
          <p:cNvSpPr/>
          <p:nvPr/>
        </p:nvSpPr>
        <p:spPr>
          <a:xfrm>
            <a:off x="1490100" y="1298450"/>
            <a:ext cx="6163800" cy="3474600"/>
          </a:xfrm>
          <a:prstGeom prst="roundRect">
            <a:avLst>
              <a:gd fmla="val 3380" name="adj"/>
            </a:avLst>
          </a:prstGeom>
          <a:solidFill>
            <a:srgbClr val="FFFFFF"/>
          </a:solidFill>
          <a:ln cap="flat" cmpd="sng" w="10700">
            <a:solidFill>
              <a:srgbClr val="E3E6E9"/>
            </a:solidFill>
            <a:prstDash val="solid"/>
            <a:round/>
            <a:headEnd len="sm" w="sm" type="none"/>
            <a:tailEnd len="sm" w="sm" type="none"/>
          </a:ln>
          <a:effectLst>
            <a:outerShdw blurRad="114146" rotWithShape="0" algn="bl" dir="5400000" dist="28536">
              <a:srgbClr val="000000">
                <a:alpha val="12160"/>
              </a:srgbClr>
            </a:outerShdw>
          </a:effectLst>
        </p:spPr>
        <p:txBody>
          <a:bodyPr anchorCtr="0" anchor="ctr" bIns="102725" lIns="102725" spcFirstLastPara="1" rIns="102725" wrap="square" tIns="102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73"/>
          </a:p>
        </p:txBody>
      </p:sp>
      <p:pic>
        <p:nvPicPr>
          <p:cNvPr id="45" name="Google Shape;45;p5"/>
          <p:cNvPicPr preferRelativeResize="0"/>
          <p:nvPr/>
        </p:nvPicPr>
        <p:blipFill rotWithShape="1">
          <a:blip r:embed="rId3">
            <a:alphaModFix/>
          </a:blip>
          <a:srcRect b="16657" l="0" r="0" t="13937"/>
          <a:stretch/>
        </p:blipFill>
        <p:spPr>
          <a:xfrm>
            <a:off x="1567856" y="1559431"/>
            <a:ext cx="6008387" cy="2805569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5"/>
          <p:cNvSpPr txBox="1"/>
          <p:nvPr/>
        </p:nvSpPr>
        <p:spPr>
          <a:xfrm>
            <a:off x="1567850" y="4449950"/>
            <a:ext cx="5808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5B5B5B"/>
                </a:solidFill>
                <a:highlight>
                  <a:srgbClr val="FFFFFF"/>
                </a:highlight>
              </a:rPr>
              <a:t>Data source:</a:t>
            </a:r>
            <a:r>
              <a:rPr lang="en-US" sz="800">
                <a:solidFill>
                  <a:srgbClr val="5B5B5B"/>
                </a:solidFill>
                <a:highlight>
                  <a:srgbClr val="FFFFFF"/>
                </a:highlight>
              </a:rPr>
              <a:t> Food and Agriculture Organization of the United Nations (2025)</a:t>
            </a:r>
            <a:r>
              <a:rPr lang="en-US" sz="900">
                <a:solidFill>
                  <a:schemeClr val="dk1"/>
                </a:solidFill>
              </a:rPr>
              <a:t> </a:t>
            </a:r>
            <a:endParaRPr sz="1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6"/>
          <p:cNvSpPr txBox="1"/>
          <p:nvPr/>
        </p:nvSpPr>
        <p:spPr>
          <a:xfrm>
            <a:off x="548640" y="274320"/>
            <a:ext cx="8046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442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B5442F"/>
                </a:solidFill>
                <a:latin typeface="Calibri"/>
                <a:ea typeface="Calibri"/>
                <a:cs typeface="Calibri"/>
                <a:sym typeface="Calibri"/>
              </a:rPr>
              <a:t> THE GLOBAL PICTURE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6"/>
          <p:cNvSpPr txBox="1"/>
          <p:nvPr/>
        </p:nvSpPr>
        <p:spPr>
          <a:xfrm>
            <a:off x="548640" y="548640"/>
            <a:ext cx="8046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3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1F2A33"/>
                </a:solidFill>
                <a:latin typeface="Georgia"/>
                <a:ea typeface="Georgia"/>
                <a:cs typeface="Georgia"/>
                <a:sym typeface="Georgia"/>
              </a:rPr>
              <a:t>North America eats about six times more meat than Africa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6"/>
          <p:cNvSpPr/>
          <p:nvPr/>
        </p:nvSpPr>
        <p:spPr>
          <a:xfrm>
            <a:off x="548640" y="1371600"/>
            <a:ext cx="5486400" cy="3246120"/>
          </a:xfrm>
          <a:prstGeom prst="roundRect">
            <a:avLst>
              <a:gd fmla="val 3380" name="adj"/>
            </a:avLst>
          </a:prstGeom>
          <a:solidFill>
            <a:srgbClr val="FFFFFF"/>
          </a:solidFill>
          <a:ln cap="flat" cmpd="sng" w="9525">
            <a:solidFill>
              <a:srgbClr val="E3E6E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6"/>
          <p:cNvSpPr/>
          <p:nvPr/>
        </p:nvSpPr>
        <p:spPr>
          <a:xfrm>
            <a:off x="6263640" y="1371600"/>
            <a:ext cx="2331720" cy="1508760"/>
          </a:xfrm>
          <a:prstGeom prst="roundRect">
            <a:avLst>
              <a:gd fmla="val 7273" name="adj"/>
            </a:avLst>
          </a:prstGeom>
          <a:solidFill>
            <a:srgbClr val="FFFFFF"/>
          </a:solidFill>
          <a:ln cap="flat" cmpd="sng" w="9525">
            <a:solidFill>
              <a:srgbClr val="E3E6E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6"/>
          <p:cNvSpPr txBox="1"/>
          <p:nvPr/>
        </p:nvSpPr>
        <p:spPr>
          <a:xfrm>
            <a:off x="6400800" y="1463040"/>
            <a:ext cx="205740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5442F"/>
              </a:buClr>
              <a:buSzPts val="4000"/>
              <a:buFont typeface="Georgia"/>
              <a:buNone/>
            </a:pPr>
            <a:r>
              <a:rPr b="1" i="0" lang="en-US" sz="4000" u="none" cap="none" strike="noStrike">
                <a:solidFill>
                  <a:srgbClr val="B5442F"/>
                </a:solidFill>
                <a:latin typeface="Georgia"/>
                <a:ea typeface="Georgia"/>
                <a:cs typeface="Georgia"/>
                <a:sym typeface="Georgia"/>
              </a:rPr>
              <a:t>6×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100.8 kg in North America vs 16.7 kg in Africa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6"/>
          <p:cNvSpPr/>
          <p:nvPr/>
        </p:nvSpPr>
        <p:spPr>
          <a:xfrm>
            <a:off x="6263640" y="3108960"/>
            <a:ext cx="2331720" cy="1508760"/>
          </a:xfrm>
          <a:prstGeom prst="roundRect">
            <a:avLst>
              <a:gd fmla="val 7273" name="adj"/>
            </a:avLst>
          </a:prstGeom>
          <a:solidFill>
            <a:srgbClr val="FFFFFF"/>
          </a:solidFill>
          <a:ln cap="flat" cmpd="sng" w="9525">
            <a:solidFill>
              <a:srgbClr val="E3E6E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6"/>
          <p:cNvSpPr txBox="1"/>
          <p:nvPr/>
        </p:nvSpPr>
        <p:spPr>
          <a:xfrm>
            <a:off x="6400800" y="3200400"/>
            <a:ext cx="205740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A3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F2A33"/>
                </a:solidFill>
                <a:latin typeface="Calibri"/>
                <a:ea typeface="Calibri"/>
                <a:cs typeface="Calibri"/>
                <a:sym typeface="Calibri"/>
              </a:rPr>
              <a:t>Three tiers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Americas and Oceania above 87 kg, Europe at 79 kg, Asia and Africa far below.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6"/>
          <p:cNvSpPr txBox="1"/>
          <p:nvPr>
            <p:ph idx="4294967295" type="sldNum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5F6B7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0" name="Google Shape;60;p6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051" y="1418425"/>
            <a:ext cx="5000226" cy="3091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7"/>
          <p:cNvSpPr txBox="1"/>
          <p:nvPr/>
        </p:nvSpPr>
        <p:spPr>
          <a:xfrm>
            <a:off x="548640" y="274320"/>
            <a:ext cx="8046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442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B5442F"/>
                </a:solidFill>
                <a:latin typeface="Calibri"/>
                <a:ea typeface="Calibri"/>
                <a:cs typeface="Calibri"/>
                <a:sym typeface="Calibri"/>
              </a:rPr>
              <a:t>HOW IS IT CHANGING?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7"/>
          <p:cNvSpPr txBox="1"/>
          <p:nvPr/>
        </p:nvSpPr>
        <p:spPr>
          <a:xfrm>
            <a:off x="548640" y="548640"/>
            <a:ext cx="8046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3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1F2A33"/>
                </a:solidFill>
                <a:latin typeface="Georgia"/>
                <a:ea typeface="Georgia"/>
                <a:cs typeface="Georgia"/>
                <a:sym typeface="Georgia"/>
              </a:rPr>
              <a:t>Who changed the most?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7"/>
          <p:cNvSpPr/>
          <p:nvPr/>
        </p:nvSpPr>
        <p:spPr>
          <a:xfrm>
            <a:off x="347200" y="1114300"/>
            <a:ext cx="4499100" cy="3503400"/>
          </a:xfrm>
          <a:prstGeom prst="roundRect">
            <a:avLst>
              <a:gd fmla="val 3380" name="adj"/>
            </a:avLst>
          </a:prstGeom>
          <a:solidFill>
            <a:srgbClr val="FFFFFF"/>
          </a:solidFill>
          <a:ln cap="flat" cmpd="sng" w="9525">
            <a:solidFill>
              <a:srgbClr val="E3E6E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trend.png" id="69" name="Google Shape;6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8013" y="1280162"/>
            <a:ext cx="4177475" cy="31331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7"/>
          <p:cNvSpPr txBox="1"/>
          <p:nvPr/>
        </p:nvSpPr>
        <p:spPr>
          <a:xfrm>
            <a:off x="5236395" y="1264788"/>
            <a:ext cx="3566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A3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F7F9E"/>
                </a:solidFill>
                <a:latin typeface="Calibri"/>
                <a:ea typeface="Calibri"/>
                <a:cs typeface="Calibri"/>
                <a:sym typeface="Calibri"/>
              </a:rPr>
              <a:t>Change 1960 → 2023, kg per person</a:t>
            </a:r>
            <a:endParaRPr b="0" i="0" sz="1200" u="none" cap="none" strike="noStrike">
              <a:solidFill>
                <a:srgbClr val="2F7F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7"/>
          <p:cNvSpPr/>
          <p:nvPr/>
        </p:nvSpPr>
        <p:spPr>
          <a:xfrm>
            <a:off x="5236395" y="1630547"/>
            <a:ext cx="3520500" cy="420600"/>
          </a:xfrm>
          <a:prstGeom prst="roundRect">
            <a:avLst>
              <a:gd fmla="val 26087" name="adj"/>
            </a:avLst>
          </a:prstGeom>
          <a:solidFill>
            <a:srgbClr val="FFFFFF"/>
          </a:solidFill>
          <a:ln cap="flat" cmpd="sng" w="9525">
            <a:solidFill>
              <a:srgbClr val="E3E6E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 txBox="1"/>
          <p:nvPr/>
        </p:nvSpPr>
        <p:spPr>
          <a:xfrm>
            <a:off x="5373555" y="1630547"/>
            <a:ext cx="14631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F2A33"/>
                </a:solidFill>
                <a:latin typeface="Calibri"/>
                <a:ea typeface="Calibri"/>
                <a:cs typeface="Calibri"/>
                <a:sym typeface="Calibri"/>
              </a:rPr>
              <a:t>Asia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7"/>
          <p:cNvSpPr txBox="1"/>
          <p:nvPr/>
        </p:nvSpPr>
        <p:spPr>
          <a:xfrm>
            <a:off x="6653715" y="1630547"/>
            <a:ext cx="10974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5.37 → 37.15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7"/>
          <p:cNvSpPr txBox="1"/>
          <p:nvPr/>
        </p:nvSpPr>
        <p:spPr>
          <a:xfrm>
            <a:off x="7750995" y="1630547"/>
            <a:ext cx="9144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5442F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B5442F"/>
                </a:solidFill>
                <a:latin typeface="Georgia"/>
                <a:ea typeface="Georgia"/>
                <a:cs typeface="Georgia"/>
                <a:sym typeface="Georgia"/>
              </a:rPr>
              <a:t>+591%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7"/>
          <p:cNvSpPr/>
          <p:nvPr/>
        </p:nvSpPr>
        <p:spPr>
          <a:xfrm>
            <a:off x="5236395" y="2106036"/>
            <a:ext cx="3520500" cy="420600"/>
          </a:xfrm>
          <a:prstGeom prst="roundRect">
            <a:avLst>
              <a:gd fmla="val 26087" name="adj"/>
            </a:avLst>
          </a:prstGeom>
          <a:solidFill>
            <a:srgbClr val="FFFFFF"/>
          </a:solidFill>
          <a:ln cap="flat" cmpd="sng" w="9525">
            <a:solidFill>
              <a:srgbClr val="E3E6E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7"/>
          <p:cNvSpPr txBox="1"/>
          <p:nvPr/>
        </p:nvSpPr>
        <p:spPr>
          <a:xfrm>
            <a:off x="5373555" y="2106036"/>
            <a:ext cx="14631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F2A33"/>
                </a:solidFill>
                <a:latin typeface="Calibri"/>
                <a:ea typeface="Calibri"/>
                <a:cs typeface="Calibri"/>
                <a:sym typeface="Calibri"/>
              </a:rPr>
              <a:t>South America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7"/>
          <p:cNvSpPr txBox="1"/>
          <p:nvPr/>
        </p:nvSpPr>
        <p:spPr>
          <a:xfrm>
            <a:off x="6653715" y="2106036"/>
            <a:ext cx="10974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38.74 → 87.92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7"/>
          <p:cNvSpPr txBox="1"/>
          <p:nvPr/>
        </p:nvSpPr>
        <p:spPr>
          <a:xfrm>
            <a:off x="7750995" y="2106036"/>
            <a:ext cx="9144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5442F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B5442F"/>
                </a:solidFill>
                <a:latin typeface="Georgia"/>
                <a:ea typeface="Georgia"/>
                <a:cs typeface="Georgia"/>
                <a:sym typeface="Georgia"/>
              </a:rPr>
              <a:t>+127%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7"/>
          <p:cNvSpPr/>
          <p:nvPr/>
        </p:nvSpPr>
        <p:spPr>
          <a:xfrm>
            <a:off x="5236395" y="2581524"/>
            <a:ext cx="3520500" cy="420600"/>
          </a:xfrm>
          <a:prstGeom prst="roundRect">
            <a:avLst>
              <a:gd fmla="val 26087" name="adj"/>
            </a:avLst>
          </a:prstGeom>
          <a:solidFill>
            <a:srgbClr val="FFFFFF"/>
          </a:solidFill>
          <a:ln cap="flat" cmpd="sng" w="9525">
            <a:solidFill>
              <a:srgbClr val="E3E6E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7"/>
          <p:cNvSpPr txBox="1"/>
          <p:nvPr/>
        </p:nvSpPr>
        <p:spPr>
          <a:xfrm>
            <a:off x="5373555" y="2581524"/>
            <a:ext cx="14631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F2A33"/>
                </a:solidFill>
                <a:latin typeface="Calibri"/>
                <a:ea typeface="Calibri"/>
                <a:cs typeface="Calibri"/>
                <a:sym typeface="Calibri"/>
              </a:rPr>
              <a:t>Europe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7"/>
          <p:cNvSpPr txBox="1"/>
          <p:nvPr/>
        </p:nvSpPr>
        <p:spPr>
          <a:xfrm>
            <a:off x="6653715" y="2581524"/>
            <a:ext cx="10974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47.22 → 78.63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7"/>
          <p:cNvSpPr txBox="1"/>
          <p:nvPr/>
        </p:nvSpPr>
        <p:spPr>
          <a:xfrm>
            <a:off x="7750995" y="2581524"/>
            <a:ext cx="9144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5442F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B5442F"/>
                </a:solidFill>
                <a:latin typeface="Georgia"/>
                <a:ea typeface="Georgia"/>
                <a:cs typeface="Georgia"/>
                <a:sym typeface="Georgia"/>
              </a:rPr>
              <a:t>+67%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7"/>
          <p:cNvSpPr/>
          <p:nvPr/>
        </p:nvSpPr>
        <p:spPr>
          <a:xfrm>
            <a:off x="5236395" y="3057012"/>
            <a:ext cx="3520500" cy="420600"/>
          </a:xfrm>
          <a:prstGeom prst="roundRect">
            <a:avLst>
              <a:gd fmla="val 26087" name="adj"/>
            </a:avLst>
          </a:prstGeom>
          <a:solidFill>
            <a:srgbClr val="FFFFFF"/>
          </a:solidFill>
          <a:ln cap="flat" cmpd="sng" w="9525">
            <a:solidFill>
              <a:srgbClr val="E3E6E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7"/>
          <p:cNvSpPr txBox="1"/>
          <p:nvPr/>
        </p:nvSpPr>
        <p:spPr>
          <a:xfrm>
            <a:off x="5373555" y="3057012"/>
            <a:ext cx="14631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F2A33"/>
                </a:solidFill>
                <a:latin typeface="Calibri"/>
                <a:ea typeface="Calibri"/>
                <a:cs typeface="Calibri"/>
                <a:sym typeface="Calibri"/>
              </a:rPr>
              <a:t>North America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7"/>
          <p:cNvSpPr txBox="1"/>
          <p:nvPr/>
        </p:nvSpPr>
        <p:spPr>
          <a:xfrm>
            <a:off x="6653715" y="3057012"/>
            <a:ext cx="10974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72.93 → 100.8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7"/>
          <p:cNvSpPr txBox="1"/>
          <p:nvPr/>
        </p:nvSpPr>
        <p:spPr>
          <a:xfrm>
            <a:off x="7750995" y="3057012"/>
            <a:ext cx="9144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5442F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B5442F"/>
                </a:solidFill>
                <a:latin typeface="Georgia"/>
                <a:ea typeface="Georgia"/>
                <a:cs typeface="Georgia"/>
                <a:sym typeface="Georgia"/>
              </a:rPr>
              <a:t>+38%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7"/>
          <p:cNvSpPr/>
          <p:nvPr/>
        </p:nvSpPr>
        <p:spPr>
          <a:xfrm>
            <a:off x="5236395" y="3532500"/>
            <a:ext cx="3520500" cy="420600"/>
          </a:xfrm>
          <a:prstGeom prst="roundRect">
            <a:avLst>
              <a:gd fmla="val 26087" name="adj"/>
            </a:avLst>
          </a:prstGeom>
          <a:solidFill>
            <a:srgbClr val="FFFFFF"/>
          </a:solidFill>
          <a:ln cap="flat" cmpd="sng" w="9525">
            <a:solidFill>
              <a:srgbClr val="E3E6E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7"/>
          <p:cNvSpPr txBox="1"/>
          <p:nvPr/>
        </p:nvSpPr>
        <p:spPr>
          <a:xfrm>
            <a:off x="5373555" y="3532500"/>
            <a:ext cx="14631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F2A33"/>
                </a:solidFill>
                <a:latin typeface="Calibri"/>
                <a:ea typeface="Calibri"/>
                <a:cs typeface="Calibri"/>
                <a:sym typeface="Calibri"/>
              </a:rPr>
              <a:t>Africa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7"/>
          <p:cNvSpPr txBox="1"/>
          <p:nvPr/>
        </p:nvSpPr>
        <p:spPr>
          <a:xfrm>
            <a:off x="6653715" y="3532500"/>
            <a:ext cx="10974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13.48 → 16.67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7"/>
          <p:cNvSpPr txBox="1"/>
          <p:nvPr/>
        </p:nvSpPr>
        <p:spPr>
          <a:xfrm>
            <a:off x="7750995" y="3532500"/>
            <a:ext cx="9144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5442F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B5442F"/>
                </a:solidFill>
                <a:latin typeface="Georgia"/>
                <a:ea typeface="Georgia"/>
                <a:cs typeface="Georgia"/>
                <a:sym typeface="Georgia"/>
              </a:rPr>
              <a:t>+24%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7"/>
          <p:cNvSpPr/>
          <p:nvPr/>
        </p:nvSpPr>
        <p:spPr>
          <a:xfrm>
            <a:off x="5236395" y="4007988"/>
            <a:ext cx="3520500" cy="420600"/>
          </a:xfrm>
          <a:prstGeom prst="roundRect">
            <a:avLst>
              <a:gd fmla="val 26087" name="adj"/>
            </a:avLst>
          </a:prstGeom>
          <a:solidFill>
            <a:srgbClr val="FFFFFF"/>
          </a:solidFill>
          <a:ln cap="flat" cmpd="sng" w="9525">
            <a:solidFill>
              <a:srgbClr val="E3E6E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7"/>
          <p:cNvSpPr txBox="1"/>
          <p:nvPr/>
        </p:nvSpPr>
        <p:spPr>
          <a:xfrm>
            <a:off x="5373555" y="4007988"/>
            <a:ext cx="14631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F2A33"/>
                </a:solidFill>
                <a:latin typeface="Calibri"/>
                <a:ea typeface="Calibri"/>
                <a:cs typeface="Calibri"/>
                <a:sym typeface="Calibri"/>
              </a:rPr>
              <a:t>Oceania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7"/>
          <p:cNvSpPr txBox="1"/>
          <p:nvPr/>
        </p:nvSpPr>
        <p:spPr>
          <a:xfrm>
            <a:off x="6653715" y="4007988"/>
            <a:ext cx="10974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99.46 → 95.14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7"/>
          <p:cNvSpPr txBox="1"/>
          <p:nvPr/>
        </p:nvSpPr>
        <p:spPr>
          <a:xfrm>
            <a:off x="7750995" y="4007988"/>
            <a:ext cx="9144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F7F9E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2F7F9E"/>
                </a:solidFill>
                <a:latin typeface="Georgia"/>
                <a:ea typeface="Georgia"/>
                <a:cs typeface="Georgia"/>
                <a:sym typeface="Georgia"/>
              </a:rPr>
              <a:t>−4%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7"/>
          <p:cNvSpPr txBox="1"/>
          <p:nvPr>
            <p:ph idx="4294967295" type="sldNum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5F6B7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8"/>
          <p:cNvSpPr txBox="1"/>
          <p:nvPr/>
        </p:nvSpPr>
        <p:spPr>
          <a:xfrm>
            <a:off x="548640" y="274320"/>
            <a:ext cx="8046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442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B5442F"/>
                </a:solidFill>
                <a:latin typeface="Calibri"/>
                <a:ea typeface="Calibri"/>
                <a:cs typeface="Calibri"/>
                <a:sym typeface="Calibri"/>
              </a:rPr>
              <a:t>WHAT ARE WE EATING?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8"/>
          <p:cNvSpPr txBox="1"/>
          <p:nvPr/>
        </p:nvSpPr>
        <p:spPr>
          <a:xfrm>
            <a:off x="548640" y="548640"/>
            <a:ext cx="8046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3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1F2A33"/>
                </a:solidFill>
                <a:latin typeface="Georgia"/>
                <a:ea typeface="Georgia"/>
                <a:cs typeface="Georgia"/>
                <a:sym typeface="Georgia"/>
              </a:rPr>
              <a:t>Poultry leads on most continents, pork in Europe and Asia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8"/>
          <p:cNvSpPr/>
          <p:nvPr/>
        </p:nvSpPr>
        <p:spPr>
          <a:xfrm>
            <a:off x="548640" y="1371600"/>
            <a:ext cx="1737360" cy="1508760"/>
          </a:xfrm>
          <a:prstGeom prst="roundRect">
            <a:avLst>
              <a:gd fmla="val 7273" name="adj"/>
            </a:avLst>
          </a:prstGeom>
          <a:solidFill>
            <a:srgbClr val="FFFFFF"/>
          </a:solidFill>
          <a:ln cap="flat" cmpd="sng" w="9525">
            <a:solidFill>
              <a:srgbClr val="E3E6E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4" name="Google Shape;10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8680" y="1417320"/>
            <a:ext cx="1097280" cy="109728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8"/>
          <p:cNvSpPr txBox="1"/>
          <p:nvPr/>
        </p:nvSpPr>
        <p:spPr>
          <a:xfrm>
            <a:off x="594360" y="246888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A3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F2A33"/>
                </a:solidFill>
                <a:latin typeface="Calibri"/>
                <a:ea typeface="Calibri"/>
                <a:cs typeface="Calibri"/>
                <a:sym typeface="Calibri"/>
              </a:rPr>
              <a:t>North America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Poultry · 100.8 kg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8"/>
          <p:cNvSpPr/>
          <p:nvPr/>
        </p:nvSpPr>
        <p:spPr>
          <a:xfrm>
            <a:off x="2423160" y="1371600"/>
            <a:ext cx="1737360" cy="1508760"/>
          </a:xfrm>
          <a:prstGeom prst="roundRect">
            <a:avLst>
              <a:gd fmla="val 7273" name="adj"/>
            </a:avLst>
          </a:prstGeom>
          <a:solidFill>
            <a:srgbClr val="FFFFFF"/>
          </a:solidFill>
          <a:ln cap="flat" cmpd="sng" w="9525">
            <a:solidFill>
              <a:srgbClr val="E3E6E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7" name="Google Shape;107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0" y="1417320"/>
            <a:ext cx="1097280" cy="109728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8"/>
          <p:cNvSpPr txBox="1"/>
          <p:nvPr/>
        </p:nvSpPr>
        <p:spPr>
          <a:xfrm>
            <a:off x="2468880" y="246888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A3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F2A33"/>
                </a:solidFill>
                <a:latin typeface="Calibri"/>
                <a:ea typeface="Calibri"/>
                <a:cs typeface="Calibri"/>
                <a:sym typeface="Calibri"/>
              </a:rPr>
              <a:t>Oceania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Poultry · 95.1 kg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8"/>
          <p:cNvSpPr/>
          <p:nvPr/>
        </p:nvSpPr>
        <p:spPr>
          <a:xfrm>
            <a:off x="4297680" y="1371600"/>
            <a:ext cx="1737360" cy="1508760"/>
          </a:xfrm>
          <a:prstGeom prst="roundRect">
            <a:avLst>
              <a:gd fmla="val 7273" name="adj"/>
            </a:avLst>
          </a:prstGeom>
          <a:solidFill>
            <a:srgbClr val="FFFFFF"/>
          </a:solidFill>
          <a:ln cap="flat" cmpd="sng" w="9525">
            <a:solidFill>
              <a:srgbClr val="E3E6E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0" name="Google Shape;110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17720" y="1417320"/>
            <a:ext cx="1097280" cy="109728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8"/>
          <p:cNvSpPr txBox="1"/>
          <p:nvPr/>
        </p:nvSpPr>
        <p:spPr>
          <a:xfrm>
            <a:off x="4343400" y="246888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A3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F2A33"/>
                </a:solidFill>
                <a:latin typeface="Calibri"/>
                <a:ea typeface="Calibri"/>
                <a:cs typeface="Calibri"/>
                <a:sym typeface="Calibri"/>
              </a:rPr>
              <a:t>South America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Poultry · 87.9 kg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8"/>
          <p:cNvSpPr/>
          <p:nvPr/>
        </p:nvSpPr>
        <p:spPr>
          <a:xfrm>
            <a:off x="548640" y="3017520"/>
            <a:ext cx="1737360" cy="1508760"/>
          </a:xfrm>
          <a:prstGeom prst="roundRect">
            <a:avLst>
              <a:gd fmla="val 7273" name="adj"/>
            </a:avLst>
          </a:prstGeom>
          <a:solidFill>
            <a:srgbClr val="FFFFFF"/>
          </a:solidFill>
          <a:ln cap="flat" cmpd="sng" w="9525">
            <a:solidFill>
              <a:srgbClr val="E3E6E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3" name="Google Shape;113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8680" y="3063240"/>
            <a:ext cx="1097280" cy="109728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8"/>
          <p:cNvSpPr txBox="1"/>
          <p:nvPr/>
        </p:nvSpPr>
        <p:spPr>
          <a:xfrm>
            <a:off x="594360" y="411480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A3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F2A33"/>
                </a:solidFill>
                <a:latin typeface="Calibri"/>
                <a:ea typeface="Calibri"/>
                <a:cs typeface="Calibri"/>
                <a:sym typeface="Calibri"/>
              </a:rPr>
              <a:t>Europe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Pork · 78.6 kg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8"/>
          <p:cNvSpPr/>
          <p:nvPr/>
        </p:nvSpPr>
        <p:spPr>
          <a:xfrm>
            <a:off x="2423160" y="3017520"/>
            <a:ext cx="1737360" cy="1508760"/>
          </a:xfrm>
          <a:prstGeom prst="roundRect">
            <a:avLst>
              <a:gd fmla="val 7273" name="adj"/>
            </a:avLst>
          </a:prstGeom>
          <a:solidFill>
            <a:srgbClr val="FFFFFF"/>
          </a:solidFill>
          <a:ln cap="flat" cmpd="sng" w="9525">
            <a:solidFill>
              <a:srgbClr val="E3E6E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743200" y="3063240"/>
            <a:ext cx="1097280" cy="109728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8"/>
          <p:cNvSpPr txBox="1"/>
          <p:nvPr/>
        </p:nvSpPr>
        <p:spPr>
          <a:xfrm>
            <a:off x="2468880" y="411480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A3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F2A33"/>
                </a:solidFill>
                <a:latin typeface="Calibri"/>
                <a:ea typeface="Calibri"/>
                <a:cs typeface="Calibri"/>
                <a:sym typeface="Calibri"/>
              </a:rPr>
              <a:t>Asia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Pork · 37.1 kg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8"/>
          <p:cNvSpPr/>
          <p:nvPr/>
        </p:nvSpPr>
        <p:spPr>
          <a:xfrm>
            <a:off x="4297680" y="3017520"/>
            <a:ext cx="1737360" cy="1508760"/>
          </a:xfrm>
          <a:prstGeom prst="roundRect">
            <a:avLst>
              <a:gd fmla="val 7273" name="adj"/>
            </a:avLst>
          </a:prstGeom>
          <a:solidFill>
            <a:srgbClr val="FFFFFF"/>
          </a:solidFill>
          <a:ln cap="flat" cmpd="sng" w="9525">
            <a:solidFill>
              <a:srgbClr val="E3E6E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9" name="Google Shape;119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17720" y="3063240"/>
            <a:ext cx="1097280" cy="109728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8"/>
          <p:cNvSpPr txBox="1"/>
          <p:nvPr/>
        </p:nvSpPr>
        <p:spPr>
          <a:xfrm>
            <a:off x="4343400" y="411480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A3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F2A33"/>
                </a:solidFill>
                <a:latin typeface="Calibri"/>
                <a:ea typeface="Calibri"/>
                <a:cs typeface="Calibri"/>
                <a:sym typeface="Calibri"/>
              </a:rPr>
              <a:t>Africa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Poultry · 16.7 kg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8"/>
          <p:cNvSpPr/>
          <p:nvPr/>
        </p:nvSpPr>
        <p:spPr>
          <a:xfrm>
            <a:off x="548640" y="4773168"/>
            <a:ext cx="118872" cy="118872"/>
          </a:xfrm>
          <a:prstGeom prst="ellipse">
            <a:avLst/>
          </a:prstGeom>
          <a:solidFill>
            <a:srgbClr val="E9A23B"/>
          </a:solidFill>
          <a:ln cap="flat" cmpd="sng" w="12700">
            <a:solidFill>
              <a:srgbClr val="E9A2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8"/>
          <p:cNvSpPr txBox="1"/>
          <p:nvPr/>
        </p:nvSpPr>
        <p:spPr>
          <a:xfrm>
            <a:off x="713232" y="4709160"/>
            <a:ext cx="960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Poultry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8"/>
          <p:cNvSpPr/>
          <p:nvPr/>
        </p:nvSpPr>
        <p:spPr>
          <a:xfrm>
            <a:off x="1455420" y="4773168"/>
            <a:ext cx="118800" cy="118800"/>
          </a:xfrm>
          <a:prstGeom prst="ellipse">
            <a:avLst/>
          </a:prstGeom>
          <a:solidFill>
            <a:srgbClr val="B5442F"/>
          </a:solidFill>
          <a:ln cap="flat" cmpd="sng" w="12700">
            <a:solidFill>
              <a:srgbClr val="B544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8"/>
          <p:cNvSpPr txBox="1"/>
          <p:nvPr/>
        </p:nvSpPr>
        <p:spPr>
          <a:xfrm>
            <a:off x="1620012" y="4709160"/>
            <a:ext cx="960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Beef and buffalo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8"/>
          <p:cNvSpPr/>
          <p:nvPr/>
        </p:nvSpPr>
        <p:spPr>
          <a:xfrm>
            <a:off x="2743200" y="4773168"/>
            <a:ext cx="118872" cy="118872"/>
          </a:xfrm>
          <a:prstGeom prst="ellipse">
            <a:avLst/>
          </a:prstGeom>
          <a:solidFill>
            <a:srgbClr val="8C6A4F"/>
          </a:solidFill>
          <a:ln cap="flat" cmpd="sng" w="12700">
            <a:solidFill>
              <a:srgbClr val="8C6A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8"/>
          <p:cNvSpPr txBox="1"/>
          <p:nvPr/>
        </p:nvSpPr>
        <p:spPr>
          <a:xfrm>
            <a:off x="2907792" y="4709160"/>
            <a:ext cx="960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Sheep and goat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8"/>
          <p:cNvSpPr/>
          <p:nvPr/>
        </p:nvSpPr>
        <p:spPr>
          <a:xfrm>
            <a:off x="3983355" y="4773168"/>
            <a:ext cx="118800" cy="118800"/>
          </a:xfrm>
          <a:prstGeom prst="ellipse">
            <a:avLst/>
          </a:prstGeom>
          <a:solidFill>
            <a:srgbClr val="E58E9A"/>
          </a:solidFill>
          <a:ln cap="flat" cmpd="sng" w="12700">
            <a:solidFill>
              <a:srgbClr val="E58E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8"/>
          <p:cNvSpPr txBox="1"/>
          <p:nvPr/>
        </p:nvSpPr>
        <p:spPr>
          <a:xfrm>
            <a:off x="4147947" y="4709160"/>
            <a:ext cx="960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Pork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8"/>
          <p:cNvSpPr/>
          <p:nvPr/>
        </p:nvSpPr>
        <p:spPr>
          <a:xfrm>
            <a:off x="4756785" y="4773168"/>
            <a:ext cx="118800" cy="118800"/>
          </a:xfrm>
          <a:prstGeom prst="ellipse">
            <a:avLst/>
          </a:prstGeom>
          <a:solidFill>
            <a:srgbClr val="7A7F87"/>
          </a:solidFill>
          <a:ln cap="flat" cmpd="sng" w="12700">
            <a:solidFill>
              <a:srgbClr val="7A7F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8"/>
          <p:cNvSpPr txBox="1"/>
          <p:nvPr/>
        </p:nvSpPr>
        <p:spPr>
          <a:xfrm>
            <a:off x="4921377" y="4709160"/>
            <a:ext cx="960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Other meats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8"/>
          <p:cNvSpPr/>
          <p:nvPr/>
        </p:nvSpPr>
        <p:spPr>
          <a:xfrm>
            <a:off x="6277975" y="1963975"/>
            <a:ext cx="2506200" cy="2562300"/>
          </a:xfrm>
          <a:prstGeom prst="roundRect">
            <a:avLst>
              <a:gd fmla="val 4706" name="adj"/>
            </a:avLst>
          </a:prstGeom>
          <a:solidFill>
            <a:srgbClr val="FFFFFF"/>
          </a:solidFill>
          <a:ln cap="flat" cmpd="sng" w="9525">
            <a:solidFill>
              <a:srgbClr val="E3E6E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8"/>
          <p:cNvSpPr txBox="1"/>
          <p:nvPr>
            <p:ph idx="4294967295" type="sldNum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5F6B7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3" name="Google Shape;133;p8"/>
          <p:cNvGrpSpPr/>
          <p:nvPr/>
        </p:nvGrpSpPr>
        <p:grpSpPr>
          <a:xfrm>
            <a:off x="6415125" y="2508275"/>
            <a:ext cx="2427152" cy="1714650"/>
            <a:chOff x="6400800" y="1915900"/>
            <a:chExt cx="2427152" cy="1714650"/>
          </a:xfrm>
        </p:grpSpPr>
        <p:pic>
          <p:nvPicPr>
            <p:cNvPr id="134" name="Google Shape;134;p8" title="hen-animals-svgrepo-com-e9a23b.png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6455479" y="3116938"/>
              <a:ext cx="513596" cy="51361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5" name="Google Shape;135;p8" title="pig-animals-svgrepo-com-e58e9a.png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6425542" y="2538848"/>
              <a:ext cx="573464" cy="57346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6" name="Google Shape;136;p8" title="cow-animals-svgrepo-com-b5442f.png"/>
            <p:cNvPicPr preferRelativeResize="0"/>
            <p:nvPr/>
          </p:nvPicPr>
          <p:blipFill>
            <a:blip r:embed="rId11">
              <a:alphaModFix/>
            </a:blip>
            <a:stretch>
              <a:fillRect/>
            </a:stretch>
          </p:blipFill>
          <p:spPr>
            <a:xfrm>
              <a:off x="6400800" y="1915900"/>
              <a:ext cx="622948" cy="62294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7" name="Google Shape;137;p8"/>
            <p:cNvSpPr txBox="1"/>
            <p:nvPr/>
          </p:nvSpPr>
          <p:spPr>
            <a:xfrm>
              <a:off x="7090650" y="1915900"/>
              <a:ext cx="1556100" cy="4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300">
                  <a:solidFill>
                    <a:srgbClr val="B5442F"/>
                  </a:solidFill>
                </a:rPr>
                <a:t>10</a:t>
              </a:r>
              <a:r>
                <a:rPr b="1" lang="en-US">
                  <a:solidFill>
                    <a:srgbClr val="B5442F"/>
                  </a:solidFill>
                </a:rPr>
                <a:t> </a:t>
              </a:r>
              <a:endParaRPr b="1">
                <a:solidFill>
                  <a:srgbClr val="B5442F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B5442F"/>
                  </a:solidFill>
                </a:rPr>
                <a:t>Cows per second</a:t>
              </a:r>
              <a:endParaRPr b="1" sz="1100">
                <a:solidFill>
                  <a:srgbClr val="B5442F"/>
                </a:solidFill>
              </a:endParaRPr>
            </a:p>
          </p:txBody>
        </p:sp>
        <p:sp>
          <p:nvSpPr>
            <p:cNvPr id="138" name="Google Shape;138;p8"/>
            <p:cNvSpPr txBox="1"/>
            <p:nvPr/>
          </p:nvSpPr>
          <p:spPr>
            <a:xfrm>
              <a:off x="7090650" y="2561575"/>
              <a:ext cx="1556100" cy="4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300">
                  <a:solidFill>
                    <a:srgbClr val="E58E9A"/>
                  </a:solidFill>
                </a:rPr>
                <a:t>47</a:t>
              </a:r>
              <a:r>
                <a:rPr b="1" lang="en-US">
                  <a:solidFill>
                    <a:srgbClr val="E58E9A"/>
                  </a:solidFill>
                </a:rPr>
                <a:t> </a:t>
              </a:r>
              <a:endParaRPr b="1">
                <a:solidFill>
                  <a:srgbClr val="E58E9A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E58E9A"/>
                  </a:solidFill>
                </a:rPr>
                <a:t>Pigs</a:t>
              </a:r>
              <a:r>
                <a:rPr b="1" lang="en-US" sz="1100">
                  <a:solidFill>
                    <a:srgbClr val="E58E9A"/>
                  </a:solidFill>
                </a:rPr>
                <a:t> per second</a:t>
              </a:r>
              <a:endParaRPr b="1" sz="1100">
                <a:solidFill>
                  <a:srgbClr val="E58E9A"/>
                </a:solidFill>
              </a:endParaRPr>
            </a:p>
          </p:txBody>
        </p:sp>
        <p:sp>
          <p:nvSpPr>
            <p:cNvPr id="139" name="Google Shape;139;p8"/>
            <p:cNvSpPr txBox="1"/>
            <p:nvPr/>
          </p:nvSpPr>
          <p:spPr>
            <a:xfrm>
              <a:off x="7090652" y="3207225"/>
              <a:ext cx="1737300" cy="4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300">
                  <a:solidFill>
                    <a:srgbClr val="E9A23B"/>
                  </a:solidFill>
                </a:rPr>
                <a:t>2400</a:t>
              </a:r>
              <a:r>
                <a:rPr b="1" lang="en-US">
                  <a:solidFill>
                    <a:srgbClr val="E9A23B"/>
                  </a:solidFill>
                </a:rPr>
                <a:t> </a:t>
              </a:r>
              <a:endParaRPr b="1">
                <a:solidFill>
                  <a:srgbClr val="E9A23B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E9A23B"/>
                  </a:solidFill>
                </a:rPr>
                <a:t>Chickens</a:t>
              </a:r>
              <a:r>
                <a:rPr b="1" lang="en-US" sz="1100">
                  <a:solidFill>
                    <a:srgbClr val="E9A23B"/>
                  </a:solidFill>
                </a:rPr>
                <a:t> per second</a:t>
              </a:r>
              <a:endParaRPr b="1" sz="1100">
                <a:solidFill>
                  <a:srgbClr val="E9A23B"/>
                </a:solidFill>
              </a:endParaRPr>
            </a:p>
          </p:txBody>
        </p:sp>
      </p:grpSp>
      <p:sp>
        <p:nvSpPr>
          <p:cNvPr id="140" name="Google Shape;140;p8"/>
          <p:cNvSpPr txBox="1"/>
          <p:nvPr/>
        </p:nvSpPr>
        <p:spPr>
          <a:xfrm>
            <a:off x="6415125" y="2009700"/>
            <a:ext cx="2194500" cy="5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3"/>
              </a:buClr>
              <a:buSzPts val="2400"/>
              <a:buFont typeface="Georgia"/>
              <a:buNone/>
            </a:pPr>
            <a:r>
              <a:rPr b="1" lang="en-US" sz="1200">
                <a:solidFill>
                  <a:srgbClr val="1F2A33"/>
                </a:solidFill>
                <a:latin typeface="Georgia"/>
                <a:ea typeface="Georgia"/>
                <a:cs typeface="Georgia"/>
                <a:sym typeface="Georgia"/>
              </a:rPr>
              <a:t>Animals get </a:t>
            </a:r>
            <a:r>
              <a:rPr b="1" lang="en-US" sz="1200">
                <a:solidFill>
                  <a:srgbClr val="1F2A33"/>
                </a:solidFill>
                <a:latin typeface="Georgia"/>
                <a:ea typeface="Georgia"/>
                <a:cs typeface="Georgia"/>
                <a:sym typeface="Georgia"/>
              </a:rPr>
              <a:t>slaughtered</a:t>
            </a:r>
            <a:r>
              <a:rPr b="1" lang="en-US" sz="1200">
                <a:solidFill>
                  <a:srgbClr val="1F2A33"/>
                </a:solidFill>
                <a:latin typeface="Georgia"/>
                <a:ea typeface="Georgia"/>
                <a:cs typeface="Georgia"/>
                <a:sym typeface="Georgia"/>
              </a:rPr>
              <a:t> for meat:</a:t>
            </a:r>
            <a:endParaRPr b="1" sz="1200">
              <a:solidFill>
                <a:srgbClr val="1F2A33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41" name="Google Shape;141;p8"/>
          <p:cNvSpPr txBox="1"/>
          <p:nvPr/>
        </p:nvSpPr>
        <p:spPr>
          <a:xfrm rot="-658">
            <a:off x="6746867" y="1319206"/>
            <a:ext cx="1568400" cy="400200"/>
          </a:xfrm>
          <a:prstGeom prst="rect">
            <a:avLst/>
          </a:prstGeom>
          <a:solidFill>
            <a:srgbClr val="1F2A33"/>
          </a:solidFill>
          <a:ln>
            <a:noFill/>
          </a:ln>
          <a:effectLst>
            <a:outerShdw rotWithShape="0" algn="bl">
              <a:srgbClr val="000000">
                <a:alpha val="28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rPr>
              <a:t>Did you know</a:t>
            </a:r>
            <a:r>
              <a:rPr lang="en-US">
                <a:solidFill>
                  <a:schemeClr val="lt2"/>
                </a:solidFill>
              </a:rPr>
              <a:t>? </a:t>
            </a:r>
            <a:endParaRPr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9"/>
          <p:cNvSpPr txBox="1"/>
          <p:nvPr>
            <p:ph idx="4294967295" type="sldNum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5F6B7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8" name="Google Shape;148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01975" y="774825"/>
            <a:ext cx="6140049" cy="43055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01974" y="700650"/>
            <a:ext cx="6140049" cy="430115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9"/>
          <p:cNvSpPr txBox="1"/>
          <p:nvPr/>
        </p:nvSpPr>
        <p:spPr>
          <a:xfrm>
            <a:off x="281275" y="187396"/>
            <a:ext cx="8046600" cy="4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3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1F2A33"/>
                </a:solidFill>
                <a:latin typeface="Georgia"/>
                <a:ea typeface="Georgia"/>
                <a:cs typeface="Georgia"/>
                <a:sym typeface="Georgia"/>
              </a:rPr>
              <a:t>Does Income Matter? 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0"/>
          <p:cNvSpPr txBox="1"/>
          <p:nvPr/>
        </p:nvSpPr>
        <p:spPr>
          <a:xfrm>
            <a:off x="548640" y="274320"/>
            <a:ext cx="8046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442F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0"/>
          <p:cNvSpPr txBox="1"/>
          <p:nvPr>
            <p:ph idx="4294967295" type="sldNum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5F6B7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0"/>
          <p:cNvSpPr txBox="1"/>
          <p:nvPr/>
        </p:nvSpPr>
        <p:spPr>
          <a:xfrm>
            <a:off x="548640" y="274320"/>
            <a:ext cx="8046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442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B5442F"/>
                </a:solidFill>
                <a:latin typeface="Calibri"/>
                <a:ea typeface="Calibri"/>
                <a:cs typeface="Calibri"/>
                <a:sym typeface="Calibri"/>
              </a:rPr>
              <a:t> OUR COHORT GUESSES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0"/>
          <p:cNvSpPr txBox="1"/>
          <p:nvPr/>
        </p:nvSpPr>
        <p:spPr>
          <a:xfrm>
            <a:off x="548640" y="548640"/>
            <a:ext cx="80466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3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1F2A33"/>
                </a:solidFill>
                <a:latin typeface="Georgia"/>
                <a:ea typeface="Georgia"/>
                <a:cs typeface="Georgia"/>
                <a:sym typeface="Georgia"/>
              </a:rPr>
              <a:t>Who guessed their country’s top meat?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0"/>
          <p:cNvSpPr/>
          <p:nvPr/>
        </p:nvSpPr>
        <p:spPr>
          <a:xfrm>
            <a:off x="548640" y="1234440"/>
            <a:ext cx="2560200" cy="3127200"/>
          </a:xfrm>
          <a:prstGeom prst="roundRect">
            <a:avLst>
              <a:gd fmla="val 4500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t" dir="5400000" dist="19050">
              <a:srgbClr val="000000">
                <a:alpha val="1412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0"/>
          <p:cNvSpPr txBox="1"/>
          <p:nvPr/>
        </p:nvSpPr>
        <p:spPr>
          <a:xfrm>
            <a:off x="548650" y="1380750"/>
            <a:ext cx="2560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F2A33"/>
                </a:solidFill>
                <a:latin typeface="Calibri"/>
                <a:ea typeface="Calibri"/>
                <a:cs typeface="Calibri"/>
                <a:sym typeface="Calibri"/>
              </a:rPr>
              <a:t>Got it right</a:t>
            </a:r>
            <a:endParaRPr/>
          </a:p>
        </p:txBody>
      </p:sp>
      <p:sp>
        <p:nvSpPr>
          <p:cNvPr id="162" name="Google Shape;162;p10"/>
          <p:cNvSpPr/>
          <p:nvPr/>
        </p:nvSpPr>
        <p:spPr>
          <a:xfrm>
            <a:off x="3291840" y="1234440"/>
            <a:ext cx="2560200" cy="3127200"/>
          </a:xfrm>
          <a:prstGeom prst="roundRect">
            <a:avLst>
              <a:gd fmla="val 4500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t" dir="5400000" dist="19050">
              <a:srgbClr val="000000">
                <a:alpha val="1412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0"/>
          <p:cNvSpPr txBox="1"/>
          <p:nvPr/>
        </p:nvSpPr>
        <p:spPr>
          <a:xfrm>
            <a:off x="3291850" y="1380750"/>
            <a:ext cx="2560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F2A33"/>
                </a:solidFill>
                <a:latin typeface="Calibri"/>
                <a:ea typeface="Calibri"/>
                <a:cs typeface="Calibri"/>
                <a:sym typeface="Calibri"/>
              </a:rPr>
              <a:t>Partly right</a:t>
            </a:r>
            <a:endParaRPr/>
          </a:p>
        </p:txBody>
      </p:sp>
      <p:sp>
        <p:nvSpPr>
          <p:cNvPr id="164" name="Google Shape;164;p10"/>
          <p:cNvSpPr/>
          <p:nvPr/>
        </p:nvSpPr>
        <p:spPr>
          <a:xfrm>
            <a:off x="6035040" y="1234440"/>
            <a:ext cx="2560200" cy="3127200"/>
          </a:xfrm>
          <a:prstGeom prst="roundRect">
            <a:avLst>
              <a:gd fmla="val 4500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t" dir="5400000" dist="19050">
              <a:srgbClr val="000000">
                <a:alpha val="1412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0"/>
          <p:cNvSpPr txBox="1"/>
          <p:nvPr/>
        </p:nvSpPr>
        <p:spPr>
          <a:xfrm>
            <a:off x="6035050" y="1380750"/>
            <a:ext cx="2560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F2A33"/>
                </a:solidFill>
                <a:latin typeface="Calibri"/>
                <a:ea typeface="Calibri"/>
                <a:cs typeface="Calibri"/>
                <a:sym typeface="Calibri"/>
              </a:rPr>
              <a:t>Got it wrong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1"/>
          <p:cNvSpPr txBox="1"/>
          <p:nvPr/>
        </p:nvSpPr>
        <p:spPr>
          <a:xfrm>
            <a:off x="548640" y="274320"/>
            <a:ext cx="8046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442F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1"/>
          <p:cNvSpPr txBox="1"/>
          <p:nvPr>
            <p:ph idx="4294967295" type="sldNum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5F6B7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1"/>
          <p:cNvSpPr txBox="1"/>
          <p:nvPr/>
        </p:nvSpPr>
        <p:spPr>
          <a:xfrm>
            <a:off x="548640" y="274320"/>
            <a:ext cx="8046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442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B5442F"/>
                </a:solidFill>
                <a:latin typeface="Calibri"/>
                <a:ea typeface="Calibri"/>
                <a:cs typeface="Calibri"/>
                <a:sym typeface="Calibri"/>
              </a:rPr>
              <a:t> OUR COHORT GUESSES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1"/>
          <p:cNvSpPr txBox="1"/>
          <p:nvPr/>
        </p:nvSpPr>
        <p:spPr>
          <a:xfrm>
            <a:off x="548640" y="548640"/>
            <a:ext cx="80466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33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1F2A33"/>
                </a:solidFill>
                <a:latin typeface="Georgia"/>
                <a:ea typeface="Georgia"/>
                <a:cs typeface="Georgia"/>
                <a:sym typeface="Georgia"/>
              </a:rPr>
              <a:t>Who guessed their country’s top meat?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1"/>
          <p:cNvSpPr/>
          <p:nvPr/>
        </p:nvSpPr>
        <p:spPr>
          <a:xfrm>
            <a:off x="548640" y="1234440"/>
            <a:ext cx="2560200" cy="3127200"/>
          </a:xfrm>
          <a:prstGeom prst="roundRect">
            <a:avLst>
              <a:gd fmla="val 4500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t" dir="5400000" dist="19050">
              <a:srgbClr val="000000">
                <a:alpha val="1412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1"/>
          <p:cNvSpPr txBox="1"/>
          <p:nvPr/>
        </p:nvSpPr>
        <p:spPr>
          <a:xfrm>
            <a:off x="685800" y="1856232"/>
            <a:ext cx="1874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F2A33"/>
                </a:solidFill>
                <a:latin typeface="Calibri"/>
                <a:ea typeface="Calibri"/>
                <a:cs typeface="Calibri"/>
                <a:sym typeface="Calibri"/>
              </a:rPr>
              <a:t>Pablo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Spain · pork</a:t>
            </a:r>
            <a:endParaRPr/>
          </a:p>
        </p:txBody>
      </p:sp>
      <p:pic>
        <p:nvPicPr>
          <p:cNvPr descr="Pork icon" id="177" name="Google Shape;17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24328" y="1865376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1"/>
          <p:cNvSpPr txBox="1"/>
          <p:nvPr/>
        </p:nvSpPr>
        <p:spPr>
          <a:xfrm>
            <a:off x="685800" y="2249424"/>
            <a:ext cx="1874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F2A33"/>
                </a:solidFill>
                <a:latin typeface="Calibri"/>
                <a:ea typeface="Calibri"/>
                <a:cs typeface="Calibri"/>
                <a:sym typeface="Calibri"/>
              </a:rPr>
              <a:t>Andrea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Italy · pork</a:t>
            </a:r>
            <a:endParaRPr/>
          </a:p>
        </p:txBody>
      </p:sp>
      <p:pic>
        <p:nvPicPr>
          <p:cNvPr descr="Pork icon" id="179" name="Google Shape;17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24328" y="2258568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1"/>
          <p:cNvSpPr txBox="1"/>
          <p:nvPr/>
        </p:nvSpPr>
        <p:spPr>
          <a:xfrm>
            <a:off x="685800" y="2642616"/>
            <a:ext cx="1874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F2A33"/>
                </a:solidFill>
                <a:latin typeface="Calibri"/>
                <a:ea typeface="Calibri"/>
                <a:cs typeface="Calibri"/>
                <a:sym typeface="Calibri"/>
              </a:rPr>
              <a:t>Pietro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Italy · pork</a:t>
            </a:r>
            <a:endParaRPr/>
          </a:p>
        </p:txBody>
      </p:sp>
      <p:pic>
        <p:nvPicPr>
          <p:cNvPr descr="Pork icon" id="181" name="Google Shape;18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24328" y="2651760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1"/>
          <p:cNvSpPr txBox="1"/>
          <p:nvPr/>
        </p:nvSpPr>
        <p:spPr>
          <a:xfrm>
            <a:off x="685800" y="3035808"/>
            <a:ext cx="1874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F2A33"/>
                </a:solidFill>
                <a:latin typeface="Calibri"/>
                <a:ea typeface="Calibri"/>
                <a:cs typeface="Calibri"/>
                <a:sym typeface="Calibri"/>
              </a:rPr>
              <a:t>Yurii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Ukraine · poultry</a:t>
            </a:r>
            <a:endParaRPr/>
          </a:p>
        </p:txBody>
      </p:sp>
      <p:pic>
        <p:nvPicPr>
          <p:cNvPr descr="Chicken icon" id="183" name="Google Shape;183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24328" y="3044952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1"/>
          <p:cNvSpPr txBox="1"/>
          <p:nvPr/>
        </p:nvSpPr>
        <p:spPr>
          <a:xfrm>
            <a:off x="685800" y="3429000"/>
            <a:ext cx="1874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F2A33"/>
                </a:solidFill>
                <a:latin typeface="Calibri"/>
                <a:ea typeface="Calibri"/>
                <a:cs typeface="Calibri"/>
                <a:sym typeface="Calibri"/>
              </a:rPr>
              <a:t>Jovanna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UK · chicken</a:t>
            </a:r>
            <a:endParaRPr/>
          </a:p>
        </p:txBody>
      </p:sp>
      <p:pic>
        <p:nvPicPr>
          <p:cNvPr descr="Chicken icon" id="185" name="Google Shape;185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24328" y="3438144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1"/>
          <p:cNvSpPr txBox="1"/>
          <p:nvPr/>
        </p:nvSpPr>
        <p:spPr>
          <a:xfrm>
            <a:off x="685800" y="3822192"/>
            <a:ext cx="1874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F2A33"/>
                </a:solidFill>
                <a:latin typeface="Calibri"/>
                <a:ea typeface="Calibri"/>
                <a:cs typeface="Calibri"/>
                <a:sym typeface="Calibri"/>
              </a:rPr>
              <a:t>Adi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Portugal · fish &amp; seafood</a:t>
            </a:r>
            <a:endParaRPr/>
          </a:p>
        </p:txBody>
      </p:sp>
      <p:pic>
        <p:nvPicPr>
          <p:cNvPr descr="Fish icon" id="187" name="Google Shape;187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24328" y="3831336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1"/>
          <p:cNvSpPr/>
          <p:nvPr/>
        </p:nvSpPr>
        <p:spPr>
          <a:xfrm>
            <a:off x="3291840" y="1234440"/>
            <a:ext cx="2560200" cy="3127200"/>
          </a:xfrm>
          <a:prstGeom prst="roundRect">
            <a:avLst>
              <a:gd fmla="val 4500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t" dir="5400000" dist="19050">
              <a:srgbClr val="000000">
                <a:alpha val="1412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1"/>
          <p:cNvSpPr txBox="1"/>
          <p:nvPr/>
        </p:nvSpPr>
        <p:spPr>
          <a:xfrm>
            <a:off x="3429000" y="1856232"/>
            <a:ext cx="1874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F2A33"/>
                </a:solidFill>
                <a:latin typeface="Calibri"/>
                <a:ea typeface="Calibri"/>
                <a:cs typeface="Calibri"/>
                <a:sym typeface="Calibri"/>
              </a:rPr>
              <a:t>Lena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France · beef, chicken &amp; pork tied</a:t>
            </a:r>
            <a:endParaRPr/>
          </a:p>
        </p:txBody>
      </p:sp>
      <p:pic>
        <p:nvPicPr>
          <p:cNvPr descr="Pork icon" id="190" name="Google Shape;19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67528" y="1865376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1"/>
          <p:cNvSpPr txBox="1"/>
          <p:nvPr/>
        </p:nvSpPr>
        <p:spPr>
          <a:xfrm>
            <a:off x="3429000" y="2249424"/>
            <a:ext cx="1874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F2A33"/>
                </a:solidFill>
                <a:latin typeface="Calibri"/>
                <a:ea typeface="Calibri"/>
                <a:cs typeface="Calibri"/>
                <a:sym typeface="Calibri"/>
              </a:rPr>
              <a:t>Miguel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Spain · chicken, then pork</a:t>
            </a:r>
            <a:endParaRPr/>
          </a:p>
        </p:txBody>
      </p:sp>
      <p:pic>
        <p:nvPicPr>
          <p:cNvPr descr="Pork icon" id="192" name="Google Shape;19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67528" y="2258568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1"/>
          <p:cNvSpPr/>
          <p:nvPr/>
        </p:nvSpPr>
        <p:spPr>
          <a:xfrm>
            <a:off x="6035040" y="1234440"/>
            <a:ext cx="2560200" cy="3127200"/>
          </a:xfrm>
          <a:prstGeom prst="roundRect">
            <a:avLst>
              <a:gd fmla="val 4500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t" dir="5400000" dist="19050">
              <a:srgbClr val="000000">
                <a:alpha val="1412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1"/>
          <p:cNvSpPr txBox="1"/>
          <p:nvPr/>
        </p:nvSpPr>
        <p:spPr>
          <a:xfrm>
            <a:off x="6172200" y="1856232"/>
            <a:ext cx="1874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F2A33"/>
                </a:solidFill>
                <a:latin typeface="Calibri"/>
                <a:ea typeface="Calibri"/>
                <a:cs typeface="Calibri"/>
                <a:sym typeface="Calibri"/>
              </a:rPr>
              <a:t>Lervin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Netherlands · chicken</a:t>
            </a:r>
            <a:endParaRPr/>
          </a:p>
        </p:txBody>
      </p:sp>
      <p:pic>
        <p:nvPicPr>
          <p:cNvPr descr="Pork icon" id="195" name="Google Shape;19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10728" y="1865376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1"/>
          <p:cNvSpPr txBox="1"/>
          <p:nvPr/>
        </p:nvSpPr>
        <p:spPr>
          <a:xfrm>
            <a:off x="6172200" y="2249424"/>
            <a:ext cx="1874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F2A33"/>
                </a:solidFill>
                <a:latin typeface="Calibri"/>
                <a:ea typeface="Calibri"/>
                <a:cs typeface="Calibri"/>
                <a:sym typeface="Calibri"/>
              </a:rPr>
              <a:t>Pariya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Iran · beef &amp; lamb</a:t>
            </a:r>
            <a:endParaRPr/>
          </a:p>
        </p:txBody>
      </p:sp>
      <p:pic>
        <p:nvPicPr>
          <p:cNvPr descr="Chicken icon" id="197" name="Google Shape;197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10728" y="2258568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1"/>
          <p:cNvSpPr txBox="1"/>
          <p:nvPr/>
        </p:nvSpPr>
        <p:spPr>
          <a:xfrm>
            <a:off x="6172200" y="2642616"/>
            <a:ext cx="1874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F2A33"/>
                </a:solidFill>
                <a:latin typeface="Calibri"/>
                <a:ea typeface="Calibri"/>
                <a:cs typeface="Calibri"/>
                <a:sym typeface="Calibri"/>
              </a:rPr>
              <a:t>Juliana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Brazil · beef</a:t>
            </a:r>
            <a:endParaRPr/>
          </a:p>
        </p:txBody>
      </p:sp>
      <p:pic>
        <p:nvPicPr>
          <p:cNvPr descr="Chicken icon" id="199" name="Google Shape;199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10728" y="2651760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1"/>
          <p:cNvSpPr txBox="1"/>
          <p:nvPr/>
        </p:nvSpPr>
        <p:spPr>
          <a:xfrm>
            <a:off x="548650" y="1380750"/>
            <a:ext cx="2560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F2A33"/>
                </a:solidFill>
                <a:latin typeface="Calibri"/>
                <a:ea typeface="Calibri"/>
                <a:cs typeface="Calibri"/>
                <a:sym typeface="Calibri"/>
              </a:rPr>
              <a:t>Got it right</a:t>
            </a:r>
            <a:endParaRPr/>
          </a:p>
        </p:txBody>
      </p:sp>
      <p:sp>
        <p:nvSpPr>
          <p:cNvPr id="201" name="Google Shape;201;p11"/>
          <p:cNvSpPr txBox="1"/>
          <p:nvPr/>
        </p:nvSpPr>
        <p:spPr>
          <a:xfrm>
            <a:off x="3291850" y="1380750"/>
            <a:ext cx="2560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F2A33"/>
                </a:solidFill>
                <a:latin typeface="Calibri"/>
                <a:ea typeface="Calibri"/>
                <a:cs typeface="Calibri"/>
                <a:sym typeface="Calibri"/>
              </a:rPr>
              <a:t>Partly right</a:t>
            </a:r>
            <a:endParaRPr/>
          </a:p>
        </p:txBody>
      </p:sp>
      <p:sp>
        <p:nvSpPr>
          <p:cNvPr id="202" name="Google Shape;202;p11"/>
          <p:cNvSpPr txBox="1"/>
          <p:nvPr/>
        </p:nvSpPr>
        <p:spPr>
          <a:xfrm>
            <a:off x="6035050" y="1380750"/>
            <a:ext cx="2560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F2A33"/>
                </a:solidFill>
                <a:latin typeface="Calibri"/>
                <a:ea typeface="Calibri"/>
                <a:cs typeface="Calibri"/>
                <a:sym typeface="Calibri"/>
              </a:rPr>
              <a:t>Got it wrong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2"/>
          <p:cNvSpPr/>
          <p:nvPr/>
        </p:nvSpPr>
        <p:spPr>
          <a:xfrm>
            <a:off x="456774" y="1280050"/>
            <a:ext cx="4115400" cy="3350100"/>
          </a:xfrm>
          <a:prstGeom prst="roundRect">
            <a:avLst>
              <a:gd fmla="val 3429" name="adj"/>
            </a:avLst>
          </a:prstGeom>
          <a:solidFill>
            <a:srgbClr val="FFFFFF"/>
          </a:solidFill>
          <a:ln cap="flat" cmpd="sng" w="9975">
            <a:solidFill>
              <a:srgbClr val="E3E6E9"/>
            </a:solidFill>
            <a:prstDash val="solid"/>
            <a:round/>
            <a:headEnd len="sm" w="sm" type="none"/>
            <a:tailEnd len="sm" w="sm" type="none"/>
          </a:ln>
          <a:effectLst>
            <a:outerShdw blurRad="106348" rotWithShape="0" algn="bl" dir="5400000" dist="26587">
              <a:srgbClr val="000000">
                <a:alpha val="12160"/>
              </a:srgbClr>
            </a:outerShdw>
          </a:effectLst>
        </p:spPr>
        <p:txBody>
          <a:bodyPr anchorCtr="0" anchor="ctr" bIns="95700" lIns="95700" spcFirstLastPara="1" rIns="95700" wrap="square" tIns="9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2"/>
          <p:cNvSpPr txBox="1"/>
          <p:nvPr/>
        </p:nvSpPr>
        <p:spPr>
          <a:xfrm>
            <a:off x="548640" y="274320"/>
            <a:ext cx="8046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442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B5442F"/>
                </a:solidFill>
                <a:latin typeface="Calibri"/>
                <a:ea typeface="Calibri"/>
                <a:cs typeface="Calibri"/>
                <a:sym typeface="Calibri"/>
              </a:rPr>
              <a:t> OUR C</a:t>
            </a:r>
            <a:r>
              <a:rPr b="1" lang="en-US" sz="1100">
                <a:solidFill>
                  <a:srgbClr val="B5442F"/>
                </a:solidFill>
                <a:latin typeface="Calibri"/>
                <a:ea typeface="Calibri"/>
                <a:cs typeface="Calibri"/>
                <a:sym typeface="Calibri"/>
              </a:rPr>
              <a:t>OHORT</a:t>
            </a:r>
            <a:r>
              <a:rPr b="1" i="0" lang="en-US" sz="1100" u="none" cap="none" strike="noStrike">
                <a:solidFill>
                  <a:srgbClr val="B5442F"/>
                </a:solidFill>
                <a:latin typeface="Calibri"/>
                <a:ea typeface="Calibri"/>
                <a:cs typeface="Calibri"/>
                <a:sym typeface="Calibri"/>
              </a:rPr>
              <a:t> RANKING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2"/>
          <p:cNvSpPr txBox="1"/>
          <p:nvPr/>
        </p:nvSpPr>
        <p:spPr>
          <a:xfrm>
            <a:off x="548640" y="548640"/>
            <a:ext cx="80466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3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1F2A33"/>
                </a:solidFill>
                <a:latin typeface="Georgia"/>
                <a:ea typeface="Georgia"/>
                <a:cs typeface="Georgia"/>
                <a:sym typeface="Georgia"/>
              </a:rPr>
              <a:t>Our </a:t>
            </a:r>
            <a:r>
              <a:rPr b="1" lang="en-US" sz="2200">
                <a:solidFill>
                  <a:srgbClr val="1F2A33"/>
                </a:solidFill>
                <a:latin typeface="Georgia"/>
                <a:ea typeface="Georgia"/>
                <a:cs typeface="Georgia"/>
                <a:sym typeface="Georgia"/>
              </a:rPr>
              <a:t>cohort</a:t>
            </a:r>
            <a:r>
              <a:rPr b="1" i="0" lang="en-US" sz="2200" u="none" cap="none" strike="noStrike">
                <a:solidFill>
                  <a:srgbClr val="1F2A33"/>
                </a:solidFill>
                <a:latin typeface="Georgia"/>
                <a:ea typeface="Georgia"/>
                <a:cs typeface="Georgia"/>
                <a:sym typeface="Georgia"/>
              </a:rPr>
              <a:t> ranking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2"/>
          <p:cNvSpPr txBox="1"/>
          <p:nvPr/>
        </p:nvSpPr>
        <p:spPr>
          <a:xfrm>
            <a:off x="404866" y="1338278"/>
            <a:ext cx="4244700" cy="29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A33"/>
              </a:buClr>
              <a:buSzPts val="1403"/>
              <a:buFont typeface="Calibri"/>
              <a:buNone/>
            </a:pPr>
            <a:r>
              <a:rPr b="1" lang="en-US" sz="1403">
                <a:solidFill>
                  <a:srgbClr val="1F2A33"/>
                </a:solidFill>
                <a:latin typeface="Calibri"/>
                <a:ea typeface="Calibri"/>
                <a:cs typeface="Calibri"/>
                <a:sym typeface="Calibri"/>
              </a:rPr>
              <a:t>Top 3 in our cohort</a:t>
            </a:r>
            <a:endParaRPr b="0" i="0" sz="140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2"/>
          <p:cNvSpPr txBox="1"/>
          <p:nvPr/>
        </p:nvSpPr>
        <p:spPr>
          <a:xfrm>
            <a:off x="1866235" y="2127987"/>
            <a:ext cx="1283100" cy="493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1188"/>
              <a:buFont typeface="Calibri"/>
              <a:buNone/>
            </a:pPr>
            <a:r>
              <a:rPr b="1" lang="en-US" sz="1295">
                <a:solidFill>
                  <a:srgbClr val="1F2A33"/>
                </a:solidFill>
                <a:latin typeface="Calibri"/>
                <a:ea typeface="Calibri"/>
                <a:cs typeface="Calibri"/>
                <a:sym typeface="Calibri"/>
              </a:rPr>
              <a:t>Argentina</a:t>
            </a:r>
            <a:endParaRPr sz="129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1188"/>
              <a:buFont typeface="Calibri"/>
              <a:buNone/>
            </a:pPr>
            <a:r>
              <a:rPr lang="en-US" sz="1188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115.0 kg</a:t>
            </a:r>
            <a:endParaRPr sz="1188">
              <a:solidFill>
                <a:srgbClr val="5F6B7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2"/>
          <p:cNvSpPr/>
          <p:nvPr/>
        </p:nvSpPr>
        <p:spPr>
          <a:xfrm>
            <a:off x="1942985" y="2670912"/>
            <a:ext cx="1184700" cy="1826400"/>
          </a:xfrm>
          <a:prstGeom prst="rect">
            <a:avLst/>
          </a:prstGeom>
          <a:solidFill>
            <a:srgbClr val="E9A23B"/>
          </a:solidFill>
          <a:ln cap="flat" cmpd="sng" w="13700">
            <a:solidFill>
              <a:srgbClr val="E9A2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8700" lIns="98700" spcFirstLastPara="1" rIns="98700" wrap="square" tIns="98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11"/>
          </a:p>
        </p:txBody>
      </p:sp>
      <p:sp>
        <p:nvSpPr>
          <p:cNvPr id="214" name="Google Shape;214;p12"/>
          <p:cNvSpPr txBox="1"/>
          <p:nvPr/>
        </p:nvSpPr>
        <p:spPr>
          <a:xfrm>
            <a:off x="1915591" y="2670912"/>
            <a:ext cx="1184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75"/>
              <a:buFont typeface="Georgia"/>
              <a:buNone/>
            </a:pPr>
            <a:r>
              <a:rPr b="1" lang="en-US" sz="2375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b="0" i="0" sz="23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2"/>
          <p:cNvSpPr txBox="1"/>
          <p:nvPr/>
        </p:nvSpPr>
        <p:spPr>
          <a:xfrm>
            <a:off x="525740" y="2670912"/>
            <a:ext cx="1283100" cy="493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F2A33"/>
              </a:buClr>
              <a:buSzPts val="1295"/>
              <a:buFont typeface="Calibri"/>
              <a:buNone/>
            </a:pPr>
            <a:r>
              <a:rPr b="1" lang="en-US" sz="1295">
                <a:solidFill>
                  <a:srgbClr val="1F2A33"/>
                </a:solidFill>
                <a:latin typeface="Calibri"/>
                <a:ea typeface="Calibri"/>
                <a:cs typeface="Calibri"/>
                <a:sym typeface="Calibri"/>
              </a:rPr>
              <a:t>Brazil</a:t>
            </a:r>
            <a:endParaRPr sz="129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1188"/>
              <a:buFont typeface="Calibri"/>
              <a:buNone/>
            </a:pPr>
            <a:r>
              <a:rPr lang="en-US" sz="1188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104.6 kg</a:t>
            </a:r>
            <a:endParaRPr b="1" sz="1295">
              <a:solidFill>
                <a:srgbClr val="1F2A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2"/>
          <p:cNvSpPr/>
          <p:nvPr/>
        </p:nvSpPr>
        <p:spPr>
          <a:xfrm>
            <a:off x="575096" y="3213836"/>
            <a:ext cx="1184700" cy="1283100"/>
          </a:xfrm>
          <a:prstGeom prst="rect">
            <a:avLst/>
          </a:prstGeom>
          <a:solidFill>
            <a:srgbClr val="9AA5B1"/>
          </a:solidFill>
          <a:ln cap="flat" cmpd="sng" w="13700">
            <a:solidFill>
              <a:srgbClr val="9AA5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8700" lIns="98700" spcFirstLastPara="1" rIns="98700" wrap="square" tIns="98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11"/>
          </a:p>
        </p:txBody>
      </p:sp>
      <p:sp>
        <p:nvSpPr>
          <p:cNvPr id="217" name="Google Shape;217;p12"/>
          <p:cNvSpPr txBox="1"/>
          <p:nvPr/>
        </p:nvSpPr>
        <p:spPr>
          <a:xfrm>
            <a:off x="575096" y="3213836"/>
            <a:ext cx="1184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75"/>
              <a:buFont typeface="Georgia"/>
              <a:buNone/>
            </a:pPr>
            <a:r>
              <a:rPr b="1" lang="en-US" sz="2375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b="0" i="0" sz="23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2"/>
          <p:cNvSpPr txBox="1"/>
          <p:nvPr/>
        </p:nvSpPr>
        <p:spPr>
          <a:xfrm>
            <a:off x="3212425" y="2967052"/>
            <a:ext cx="1283100" cy="493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A33"/>
              </a:buClr>
              <a:buSzPts val="1295"/>
              <a:buFont typeface="Calibri"/>
              <a:buNone/>
            </a:pPr>
            <a:r>
              <a:rPr b="1" i="0" lang="en-US" sz="1295" u="none" cap="none" strike="noStrike">
                <a:solidFill>
                  <a:srgbClr val="1F2A33"/>
                </a:solidFill>
                <a:latin typeface="Calibri"/>
                <a:ea typeface="Calibri"/>
                <a:cs typeface="Calibri"/>
                <a:sym typeface="Calibri"/>
              </a:rPr>
              <a:t>Spain</a:t>
            </a:r>
            <a:endParaRPr b="0" i="0" sz="129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1188"/>
              <a:buFont typeface="Calibri"/>
              <a:buNone/>
            </a:pPr>
            <a:r>
              <a:rPr b="0" i="0" lang="en-US" sz="1188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100.8 kg</a:t>
            </a:r>
            <a:endParaRPr b="0" i="0" sz="129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2"/>
          <p:cNvSpPr/>
          <p:nvPr/>
        </p:nvSpPr>
        <p:spPr>
          <a:xfrm>
            <a:off x="3261781" y="3509977"/>
            <a:ext cx="1184700" cy="987000"/>
          </a:xfrm>
          <a:prstGeom prst="rect">
            <a:avLst/>
          </a:prstGeom>
          <a:solidFill>
            <a:srgbClr val="B07A4F"/>
          </a:solidFill>
          <a:ln cap="flat" cmpd="sng" w="13700">
            <a:solidFill>
              <a:srgbClr val="B07A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8700" lIns="98700" spcFirstLastPara="1" rIns="98700" wrap="square" tIns="98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2"/>
          <p:cNvSpPr txBox="1"/>
          <p:nvPr/>
        </p:nvSpPr>
        <p:spPr>
          <a:xfrm>
            <a:off x="3261781" y="3509977"/>
            <a:ext cx="1184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75"/>
              <a:buFont typeface="Georgia"/>
              <a:buNone/>
            </a:pPr>
            <a:r>
              <a:rPr b="1" i="0" lang="en-US" sz="2375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b="0" i="0" sz="23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2"/>
          <p:cNvSpPr txBox="1"/>
          <p:nvPr>
            <p:ph idx="4294967295" type="sldNum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5F6B7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2"/>
          <p:cNvSpPr/>
          <p:nvPr/>
        </p:nvSpPr>
        <p:spPr>
          <a:xfrm>
            <a:off x="5060881" y="1226068"/>
            <a:ext cx="3355929" cy="454581"/>
          </a:xfrm>
          <a:prstGeom prst="roundRect">
            <a:avLst>
              <a:gd fmla="val 19355" name="adj"/>
            </a:avLst>
          </a:prstGeom>
          <a:solidFill>
            <a:srgbClr val="FFFFFF"/>
          </a:solidFill>
          <a:ln cap="flat" cmpd="sng" w="7625">
            <a:solidFill>
              <a:srgbClr val="E3E6E9"/>
            </a:solidFill>
            <a:prstDash val="solid"/>
            <a:round/>
            <a:headEnd len="sm" w="sm" type="none"/>
            <a:tailEnd len="sm" w="sm" type="none"/>
          </a:ln>
          <a:effectLst>
            <a:outerShdw blurRad="81455" rotWithShape="0" algn="bl" dir="5400000" dist="20364">
              <a:srgbClr val="000000">
                <a:alpha val="12160"/>
              </a:srgbClr>
            </a:outerShdw>
          </a:effectLst>
        </p:spPr>
        <p:txBody>
          <a:bodyPr anchorCtr="0" anchor="ctr" bIns="73300" lIns="73300" spcFirstLastPara="1" rIns="73300" wrap="square" tIns="73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2"/>
          <p:cNvSpPr/>
          <p:nvPr/>
        </p:nvSpPr>
        <p:spPr>
          <a:xfrm>
            <a:off x="5153465" y="1321371"/>
            <a:ext cx="263907" cy="263907"/>
          </a:xfrm>
          <a:prstGeom prst="ellipse">
            <a:avLst/>
          </a:prstGeom>
          <a:solidFill>
            <a:srgbClr val="E9A23B"/>
          </a:solidFill>
          <a:ln cap="flat" cmpd="sng" w="10175">
            <a:solidFill>
              <a:srgbClr val="E9A2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300" lIns="73300" spcFirstLastPara="1" rIns="73300" wrap="square" tIns="73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2"/>
          <p:cNvSpPr txBox="1"/>
          <p:nvPr/>
        </p:nvSpPr>
        <p:spPr>
          <a:xfrm>
            <a:off x="5078725" y="1187150"/>
            <a:ext cx="413400" cy="49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42"/>
              <a:buFont typeface="Georgia"/>
              <a:buNone/>
            </a:pPr>
            <a:r>
              <a:rPr b="1" lang="en-US" sz="1042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endParaRPr b="0" i="0" sz="10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2"/>
          <p:cNvSpPr txBox="1"/>
          <p:nvPr/>
        </p:nvSpPr>
        <p:spPr>
          <a:xfrm>
            <a:off x="5739882" y="1226023"/>
            <a:ext cx="2677040" cy="45458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3"/>
              </a:buClr>
              <a:buSzPts val="1002"/>
              <a:buFont typeface="Calibri"/>
              <a:buNone/>
            </a:pPr>
            <a:r>
              <a:rPr b="1" lang="en-US" sz="1202">
                <a:solidFill>
                  <a:srgbClr val="1F2A33"/>
                </a:solidFill>
                <a:latin typeface="Calibri"/>
                <a:ea typeface="Calibri"/>
                <a:cs typeface="Calibri"/>
                <a:sym typeface="Calibri"/>
              </a:rPr>
              <a:t>Portugal</a:t>
            </a:r>
            <a:endParaRPr b="0" i="0" sz="120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2"/>
          <p:cNvSpPr/>
          <p:nvPr/>
        </p:nvSpPr>
        <p:spPr>
          <a:xfrm>
            <a:off x="5060813" y="1715774"/>
            <a:ext cx="3355929" cy="454581"/>
          </a:xfrm>
          <a:prstGeom prst="roundRect">
            <a:avLst>
              <a:gd fmla="val 19355" name="adj"/>
            </a:avLst>
          </a:prstGeom>
          <a:solidFill>
            <a:srgbClr val="FFFFFF"/>
          </a:solidFill>
          <a:ln cap="flat" cmpd="sng" w="7625">
            <a:solidFill>
              <a:srgbClr val="E3E6E9"/>
            </a:solidFill>
            <a:prstDash val="solid"/>
            <a:round/>
            <a:headEnd len="sm" w="sm" type="none"/>
            <a:tailEnd len="sm" w="sm" type="none"/>
          </a:ln>
          <a:effectLst>
            <a:outerShdw blurRad="81455" rotWithShape="0" algn="bl" dir="5400000" dist="20364">
              <a:srgbClr val="000000">
                <a:alpha val="12160"/>
              </a:srgbClr>
            </a:outerShdw>
          </a:effectLst>
        </p:spPr>
        <p:txBody>
          <a:bodyPr anchorCtr="0" anchor="ctr" bIns="73300" lIns="73300" spcFirstLastPara="1" rIns="73300" wrap="square" tIns="73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2"/>
          <p:cNvSpPr/>
          <p:nvPr/>
        </p:nvSpPr>
        <p:spPr>
          <a:xfrm>
            <a:off x="5153397" y="1811077"/>
            <a:ext cx="263907" cy="263907"/>
          </a:xfrm>
          <a:prstGeom prst="ellipse">
            <a:avLst/>
          </a:prstGeom>
          <a:solidFill>
            <a:srgbClr val="E9A23B"/>
          </a:solidFill>
          <a:ln cap="flat" cmpd="sng" w="10175">
            <a:solidFill>
              <a:srgbClr val="E9A2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300" lIns="73300" spcFirstLastPara="1" rIns="73300" wrap="square" tIns="73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2"/>
          <p:cNvSpPr txBox="1"/>
          <p:nvPr/>
        </p:nvSpPr>
        <p:spPr>
          <a:xfrm>
            <a:off x="5078675" y="1695101"/>
            <a:ext cx="413400" cy="4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42"/>
              <a:buFont typeface="Georgia"/>
              <a:buNone/>
            </a:pPr>
            <a:r>
              <a:rPr b="1" lang="en-US" sz="1042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5</a:t>
            </a:r>
            <a:endParaRPr b="0" i="0" sz="10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2"/>
          <p:cNvSpPr txBox="1"/>
          <p:nvPr/>
        </p:nvSpPr>
        <p:spPr>
          <a:xfrm>
            <a:off x="5739814" y="1715728"/>
            <a:ext cx="2677040" cy="45458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3"/>
              </a:buClr>
              <a:buSzPts val="1002"/>
              <a:buFont typeface="Calibri"/>
              <a:buNone/>
            </a:pPr>
            <a:r>
              <a:rPr b="1" lang="en-US" sz="1202">
                <a:solidFill>
                  <a:srgbClr val="1F2A33"/>
                </a:solidFill>
                <a:latin typeface="Calibri"/>
                <a:ea typeface="Calibri"/>
                <a:cs typeface="Calibri"/>
                <a:sym typeface="Calibri"/>
              </a:rPr>
              <a:t>United Kingdom</a:t>
            </a:r>
            <a:endParaRPr b="0" i="0" sz="120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2"/>
          <p:cNvSpPr/>
          <p:nvPr/>
        </p:nvSpPr>
        <p:spPr>
          <a:xfrm>
            <a:off x="5060858" y="2205513"/>
            <a:ext cx="3355929" cy="454581"/>
          </a:xfrm>
          <a:prstGeom prst="roundRect">
            <a:avLst>
              <a:gd fmla="val 19355" name="adj"/>
            </a:avLst>
          </a:prstGeom>
          <a:solidFill>
            <a:srgbClr val="FFFFFF"/>
          </a:solidFill>
          <a:ln cap="flat" cmpd="sng" w="7625">
            <a:solidFill>
              <a:srgbClr val="E3E6E9"/>
            </a:solidFill>
            <a:prstDash val="solid"/>
            <a:round/>
            <a:headEnd len="sm" w="sm" type="none"/>
            <a:tailEnd len="sm" w="sm" type="none"/>
          </a:ln>
          <a:effectLst>
            <a:outerShdw blurRad="81455" rotWithShape="0" algn="bl" dir="5400000" dist="20364">
              <a:srgbClr val="000000">
                <a:alpha val="12160"/>
              </a:srgbClr>
            </a:outerShdw>
          </a:effectLst>
        </p:spPr>
        <p:txBody>
          <a:bodyPr anchorCtr="0" anchor="ctr" bIns="73300" lIns="73300" spcFirstLastPara="1" rIns="73300" wrap="square" tIns="73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2"/>
          <p:cNvSpPr/>
          <p:nvPr/>
        </p:nvSpPr>
        <p:spPr>
          <a:xfrm>
            <a:off x="5153443" y="2300816"/>
            <a:ext cx="263907" cy="263907"/>
          </a:xfrm>
          <a:prstGeom prst="ellipse">
            <a:avLst/>
          </a:prstGeom>
          <a:solidFill>
            <a:srgbClr val="E9A23B"/>
          </a:solidFill>
          <a:ln cap="flat" cmpd="sng" w="10175">
            <a:solidFill>
              <a:srgbClr val="E9A2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300" lIns="73300" spcFirstLastPara="1" rIns="73300" wrap="square" tIns="73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2"/>
          <p:cNvSpPr txBox="1"/>
          <p:nvPr/>
        </p:nvSpPr>
        <p:spPr>
          <a:xfrm>
            <a:off x="5078725" y="2184924"/>
            <a:ext cx="413400" cy="4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42"/>
              <a:buFont typeface="Georgia"/>
              <a:buNone/>
            </a:pPr>
            <a:r>
              <a:rPr b="1" lang="en-US" sz="1042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6</a:t>
            </a:r>
            <a:endParaRPr b="0" i="0" sz="10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2"/>
          <p:cNvSpPr txBox="1"/>
          <p:nvPr/>
        </p:nvSpPr>
        <p:spPr>
          <a:xfrm>
            <a:off x="5739859" y="2205468"/>
            <a:ext cx="2677040" cy="45458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3"/>
              </a:buClr>
              <a:buSzPts val="1002"/>
              <a:buFont typeface="Calibri"/>
              <a:buNone/>
            </a:pPr>
            <a:r>
              <a:rPr b="1" lang="en-US" sz="1202">
                <a:solidFill>
                  <a:srgbClr val="1F2A33"/>
                </a:solidFill>
                <a:latin typeface="Calibri"/>
                <a:ea typeface="Calibri"/>
                <a:cs typeface="Calibri"/>
                <a:sym typeface="Calibri"/>
              </a:rPr>
              <a:t>France</a:t>
            </a:r>
            <a:endParaRPr b="0" i="0" sz="120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2"/>
          <p:cNvSpPr/>
          <p:nvPr/>
        </p:nvSpPr>
        <p:spPr>
          <a:xfrm>
            <a:off x="5060790" y="2695219"/>
            <a:ext cx="3355929" cy="454581"/>
          </a:xfrm>
          <a:prstGeom prst="roundRect">
            <a:avLst>
              <a:gd fmla="val 19355" name="adj"/>
            </a:avLst>
          </a:prstGeom>
          <a:solidFill>
            <a:srgbClr val="FFFFFF"/>
          </a:solidFill>
          <a:ln cap="flat" cmpd="sng" w="7625">
            <a:solidFill>
              <a:srgbClr val="E3E6E9"/>
            </a:solidFill>
            <a:prstDash val="solid"/>
            <a:round/>
            <a:headEnd len="sm" w="sm" type="none"/>
            <a:tailEnd len="sm" w="sm" type="none"/>
          </a:ln>
          <a:effectLst>
            <a:outerShdw blurRad="81455" rotWithShape="0" algn="bl" dir="5400000" dist="20364">
              <a:srgbClr val="000000">
                <a:alpha val="12160"/>
              </a:srgbClr>
            </a:outerShdw>
          </a:effectLst>
        </p:spPr>
        <p:txBody>
          <a:bodyPr anchorCtr="0" anchor="ctr" bIns="73300" lIns="73300" spcFirstLastPara="1" rIns="73300" wrap="square" tIns="73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2"/>
          <p:cNvSpPr/>
          <p:nvPr/>
        </p:nvSpPr>
        <p:spPr>
          <a:xfrm>
            <a:off x="5153375" y="2790522"/>
            <a:ext cx="263907" cy="263907"/>
          </a:xfrm>
          <a:prstGeom prst="ellipse">
            <a:avLst/>
          </a:prstGeom>
          <a:solidFill>
            <a:srgbClr val="E9A23B"/>
          </a:solidFill>
          <a:ln cap="flat" cmpd="sng" w="10175">
            <a:solidFill>
              <a:srgbClr val="E9A2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300" lIns="73300" spcFirstLastPara="1" rIns="73300" wrap="square" tIns="73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2"/>
          <p:cNvSpPr txBox="1"/>
          <p:nvPr/>
        </p:nvSpPr>
        <p:spPr>
          <a:xfrm>
            <a:off x="5078650" y="2674551"/>
            <a:ext cx="413400" cy="4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42"/>
              <a:buFont typeface="Georgia"/>
              <a:buNone/>
            </a:pPr>
            <a:r>
              <a:rPr b="1" lang="en-US" sz="1042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7</a:t>
            </a:r>
            <a:endParaRPr b="0" i="0" sz="10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2"/>
          <p:cNvSpPr txBox="1"/>
          <p:nvPr/>
        </p:nvSpPr>
        <p:spPr>
          <a:xfrm>
            <a:off x="5739791" y="2695174"/>
            <a:ext cx="2677040" cy="45458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F2A33"/>
              </a:buClr>
              <a:buSzPts val="1002"/>
              <a:buFont typeface="Calibri"/>
              <a:buNone/>
            </a:pPr>
            <a:r>
              <a:rPr b="1" lang="en-US" sz="1202">
                <a:solidFill>
                  <a:srgbClr val="1F2A33"/>
                </a:solidFill>
                <a:latin typeface="Calibri"/>
                <a:ea typeface="Calibri"/>
                <a:cs typeface="Calibri"/>
                <a:sym typeface="Calibri"/>
              </a:rPr>
              <a:t>Netherlands</a:t>
            </a:r>
            <a:endParaRPr b="1" sz="1202">
              <a:solidFill>
                <a:srgbClr val="1F2A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2"/>
          <p:cNvSpPr/>
          <p:nvPr/>
        </p:nvSpPr>
        <p:spPr>
          <a:xfrm>
            <a:off x="5060858" y="3184981"/>
            <a:ext cx="3355929" cy="454581"/>
          </a:xfrm>
          <a:prstGeom prst="roundRect">
            <a:avLst>
              <a:gd fmla="val 19355" name="adj"/>
            </a:avLst>
          </a:prstGeom>
          <a:solidFill>
            <a:srgbClr val="FFFFFF"/>
          </a:solidFill>
          <a:ln cap="flat" cmpd="sng" w="7625">
            <a:solidFill>
              <a:srgbClr val="E3E6E9"/>
            </a:solidFill>
            <a:prstDash val="solid"/>
            <a:round/>
            <a:headEnd len="sm" w="sm" type="none"/>
            <a:tailEnd len="sm" w="sm" type="none"/>
          </a:ln>
          <a:effectLst>
            <a:outerShdw blurRad="81455" rotWithShape="0" algn="bl" dir="5400000" dist="20364">
              <a:srgbClr val="000000">
                <a:alpha val="12160"/>
              </a:srgbClr>
            </a:outerShdw>
          </a:effectLst>
        </p:spPr>
        <p:txBody>
          <a:bodyPr anchorCtr="0" anchor="ctr" bIns="73300" lIns="73300" spcFirstLastPara="1" rIns="73300" wrap="square" tIns="73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2"/>
          <p:cNvSpPr/>
          <p:nvPr/>
        </p:nvSpPr>
        <p:spPr>
          <a:xfrm>
            <a:off x="5153443" y="3280284"/>
            <a:ext cx="263907" cy="263907"/>
          </a:xfrm>
          <a:prstGeom prst="ellipse">
            <a:avLst/>
          </a:prstGeom>
          <a:solidFill>
            <a:srgbClr val="E9A23B"/>
          </a:solidFill>
          <a:ln cap="flat" cmpd="sng" w="10175">
            <a:solidFill>
              <a:srgbClr val="E9A2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300" lIns="73300" spcFirstLastPara="1" rIns="73300" wrap="square" tIns="73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2"/>
          <p:cNvSpPr txBox="1"/>
          <p:nvPr/>
        </p:nvSpPr>
        <p:spPr>
          <a:xfrm>
            <a:off x="5078725" y="3164299"/>
            <a:ext cx="413400" cy="4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42"/>
              <a:buFont typeface="Georgia"/>
              <a:buNone/>
            </a:pPr>
            <a:r>
              <a:rPr b="1" lang="en-US" sz="1042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8</a:t>
            </a:r>
            <a:endParaRPr b="0" i="0" sz="10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2"/>
          <p:cNvSpPr txBox="1"/>
          <p:nvPr/>
        </p:nvSpPr>
        <p:spPr>
          <a:xfrm>
            <a:off x="5739859" y="3184936"/>
            <a:ext cx="2677040" cy="45458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F2A33"/>
              </a:buClr>
              <a:buSzPts val="1002"/>
              <a:buFont typeface="Calibri"/>
              <a:buNone/>
            </a:pPr>
            <a:r>
              <a:rPr b="1" lang="en-US" sz="1202">
                <a:solidFill>
                  <a:srgbClr val="1F2A33"/>
                </a:solidFill>
                <a:latin typeface="Calibri"/>
                <a:ea typeface="Calibri"/>
                <a:cs typeface="Calibri"/>
                <a:sym typeface="Calibri"/>
              </a:rPr>
              <a:t>Italy</a:t>
            </a:r>
            <a:endParaRPr b="1" sz="1202">
              <a:solidFill>
                <a:srgbClr val="1F2A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2"/>
          <p:cNvSpPr/>
          <p:nvPr/>
        </p:nvSpPr>
        <p:spPr>
          <a:xfrm>
            <a:off x="5060790" y="3674687"/>
            <a:ext cx="3355929" cy="454581"/>
          </a:xfrm>
          <a:prstGeom prst="roundRect">
            <a:avLst>
              <a:gd fmla="val 19355" name="adj"/>
            </a:avLst>
          </a:prstGeom>
          <a:solidFill>
            <a:srgbClr val="FFFFFF"/>
          </a:solidFill>
          <a:ln cap="flat" cmpd="sng" w="7625">
            <a:solidFill>
              <a:srgbClr val="E3E6E9"/>
            </a:solidFill>
            <a:prstDash val="solid"/>
            <a:round/>
            <a:headEnd len="sm" w="sm" type="none"/>
            <a:tailEnd len="sm" w="sm" type="none"/>
          </a:ln>
          <a:effectLst>
            <a:outerShdw blurRad="81455" rotWithShape="0" algn="bl" dir="5400000" dist="20364">
              <a:srgbClr val="000000">
                <a:alpha val="12160"/>
              </a:srgbClr>
            </a:outerShdw>
          </a:effectLst>
        </p:spPr>
        <p:txBody>
          <a:bodyPr anchorCtr="0" anchor="ctr" bIns="73300" lIns="73300" spcFirstLastPara="1" rIns="73300" wrap="square" tIns="73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2"/>
          <p:cNvSpPr/>
          <p:nvPr/>
        </p:nvSpPr>
        <p:spPr>
          <a:xfrm>
            <a:off x="5153375" y="3769990"/>
            <a:ext cx="263907" cy="263907"/>
          </a:xfrm>
          <a:prstGeom prst="ellipse">
            <a:avLst/>
          </a:prstGeom>
          <a:solidFill>
            <a:srgbClr val="E9A23B"/>
          </a:solidFill>
          <a:ln cap="flat" cmpd="sng" w="10175">
            <a:solidFill>
              <a:srgbClr val="E9A2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300" lIns="73300" spcFirstLastPara="1" rIns="73300" wrap="square" tIns="73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2"/>
          <p:cNvSpPr txBox="1"/>
          <p:nvPr/>
        </p:nvSpPr>
        <p:spPr>
          <a:xfrm>
            <a:off x="5056675" y="3656475"/>
            <a:ext cx="457200" cy="4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42"/>
              <a:buFont typeface="Georgia"/>
              <a:buNone/>
            </a:pPr>
            <a:r>
              <a:rPr b="1" lang="en-US" sz="1042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9</a:t>
            </a:r>
            <a:endParaRPr b="0" i="0" sz="10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2"/>
          <p:cNvSpPr txBox="1"/>
          <p:nvPr/>
        </p:nvSpPr>
        <p:spPr>
          <a:xfrm>
            <a:off x="5779491" y="3673954"/>
            <a:ext cx="2677040" cy="45458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3"/>
              </a:buClr>
              <a:buSzPts val="1002"/>
              <a:buFont typeface="Calibri"/>
              <a:buNone/>
            </a:pPr>
            <a:r>
              <a:rPr b="1" lang="en-US" sz="1202">
                <a:solidFill>
                  <a:srgbClr val="1F2A33"/>
                </a:solidFill>
                <a:latin typeface="Calibri"/>
                <a:ea typeface="Calibri"/>
                <a:cs typeface="Calibri"/>
                <a:sym typeface="Calibri"/>
              </a:rPr>
              <a:t>Ukraine</a:t>
            </a:r>
            <a:endParaRPr b="0" i="0" sz="120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2"/>
          <p:cNvSpPr/>
          <p:nvPr/>
        </p:nvSpPr>
        <p:spPr>
          <a:xfrm>
            <a:off x="5053592" y="4162945"/>
            <a:ext cx="3355929" cy="454581"/>
          </a:xfrm>
          <a:prstGeom prst="roundRect">
            <a:avLst>
              <a:gd fmla="val 19355" name="adj"/>
            </a:avLst>
          </a:prstGeom>
          <a:solidFill>
            <a:srgbClr val="FFFFFF"/>
          </a:solidFill>
          <a:ln cap="flat" cmpd="sng" w="7625">
            <a:solidFill>
              <a:srgbClr val="E3E6E9"/>
            </a:solidFill>
            <a:prstDash val="solid"/>
            <a:round/>
            <a:headEnd len="sm" w="sm" type="none"/>
            <a:tailEnd len="sm" w="sm" type="none"/>
          </a:ln>
          <a:effectLst>
            <a:outerShdw blurRad="81455" rotWithShape="0" algn="bl" dir="5400000" dist="20364">
              <a:srgbClr val="000000">
                <a:alpha val="12160"/>
              </a:srgbClr>
            </a:outerShdw>
          </a:effectLst>
        </p:spPr>
        <p:txBody>
          <a:bodyPr anchorCtr="0" anchor="ctr" bIns="73300" lIns="73300" spcFirstLastPara="1" rIns="73300" wrap="square" tIns="73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2"/>
          <p:cNvSpPr txBox="1"/>
          <p:nvPr/>
        </p:nvSpPr>
        <p:spPr>
          <a:xfrm>
            <a:off x="5741716" y="4169030"/>
            <a:ext cx="2677040" cy="45458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3"/>
              </a:buClr>
              <a:buSzPts val="1002"/>
              <a:buFont typeface="Calibri"/>
              <a:buNone/>
            </a:pPr>
            <a:r>
              <a:rPr b="1" lang="en-US" sz="1202">
                <a:solidFill>
                  <a:srgbClr val="1F2A33"/>
                </a:solidFill>
                <a:latin typeface="Calibri"/>
                <a:ea typeface="Calibri"/>
                <a:cs typeface="Calibri"/>
                <a:sym typeface="Calibri"/>
              </a:rPr>
              <a:t>Iran</a:t>
            </a:r>
            <a:endParaRPr b="0" i="0" sz="120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2"/>
          <p:cNvSpPr/>
          <p:nvPr/>
        </p:nvSpPr>
        <p:spPr>
          <a:xfrm>
            <a:off x="5153415" y="4259746"/>
            <a:ext cx="264000" cy="264000"/>
          </a:xfrm>
          <a:prstGeom prst="ellipse">
            <a:avLst/>
          </a:prstGeom>
          <a:solidFill>
            <a:srgbClr val="E9A23B"/>
          </a:solidFill>
          <a:ln cap="flat" cmpd="sng" w="10175">
            <a:solidFill>
              <a:srgbClr val="E9A2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300" lIns="73300" spcFirstLastPara="1" rIns="73300" wrap="square" tIns="73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2"/>
          <p:cNvSpPr txBox="1"/>
          <p:nvPr/>
        </p:nvSpPr>
        <p:spPr>
          <a:xfrm>
            <a:off x="5056575" y="4164375"/>
            <a:ext cx="457200" cy="41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42"/>
              <a:buFont typeface="Georgia"/>
              <a:buNone/>
            </a:pPr>
            <a:r>
              <a:rPr b="1" lang="en-US" sz="1042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10</a:t>
            </a:r>
            <a:endParaRPr b="0" i="0" sz="10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0" name="Google Shape;250;p12" title="hen-animals-svgrepo-com-e9a23b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9117" y="2208141"/>
            <a:ext cx="561660" cy="561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12" title="pig-animals-svgrepo-com-e58e9a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45263" y="2504111"/>
            <a:ext cx="627128" cy="6271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12" title="cow-animals-svgrepo-com-b5442f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67176" y="1601051"/>
            <a:ext cx="681244" cy="6812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12" title="hen-animals-svgrepo-com-e9a23b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6200" y="1736300"/>
            <a:ext cx="413400" cy="4134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12" title="pig-animals-svgrepo-com-e58e9a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16200" y="2215738"/>
            <a:ext cx="413400" cy="4134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12" title="pig-animals-svgrepo-com-e58e9a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16200" y="2715825"/>
            <a:ext cx="413400" cy="4134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12" title="pig-animals-svgrepo-com-e58e9a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16200" y="3205525"/>
            <a:ext cx="413400" cy="4134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12" title="hen-animals-svgrepo-com-e9a23b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6200" y="3684238"/>
            <a:ext cx="413400" cy="4134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12" title="hen-animals-svgrepo-com-e9a23b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6200" y="4164363"/>
            <a:ext cx="413400" cy="4134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12" title="pig-animals-svgrepo-com-e58e9a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16200" y="1267125"/>
            <a:ext cx="413400" cy="4134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3"/>
          <p:cNvSpPr txBox="1"/>
          <p:nvPr/>
        </p:nvSpPr>
        <p:spPr>
          <a:xfrm>
            <a:off x="548640" y="274320"/>
            <a:ext cx="8046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442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B5442F"/>
                </a:solidFill>
                <a:latin typeface="Calibri"/>
                <a:ea typeface="Calibri"/>
                <a:cs typeface="Calibri"/>
                <a:sym typeface="Calibri"/>
              </a:rPr>
              <a:t> OUR C</a:t>
            </a:r>
            <a:r>
              <a:rPr b="1" lang="en-US" sz="1100">
                <a:solidFill>
                  <a:srgbClr val="B5442F"/>
                </a:solidFill>
                <a:latin typeface="Calibri"/>
                <a:ea typeface="Calibri"/>
                <a:cs typeface="Calibri"/>
                <a:sym typeface="Calibri"/>
              </a:rPr>
              <a:t>OHORT</a:t>
            </a:r>
            <a:r>
              <a:rPr b="1" i="0" lang="en-US" sz="1100" u="none" cap="none" strike="noStrike">
                <a:solidFill>
                  <a:srgbClr val="B5442F"/>
                </a:solidFill>
                <a:latin typeface="Calibri"/>
                <a:ea typeface="Calibri"/>
                <a:cs typeface="Calibri"/>
                <a:sym typeface="Calibri"/>
              </a:rPr>
              <a:t> RANKING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3"/>
          <p:cNvSpPr txBox="1"/>
          <p:nvPr/>
        </p:nvSpPr>
        <p:spPr>
          <a:xfrm>
            <a:off x="548640" y="548640"/>
            <a:ext cx="80466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3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1F2A33"/>
                </a:solidFill>
                <a:latin typeface="Georgia"/>
                <a:ea typeface="Georgia"/>
                <a:cs typeface="Georgia"/>
                <a:sym typeface="Georgia"/>
              </a:rPr>
              <a:t>Once fish is included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3"/>
          <p:cNvSpPr txBox="1"/>
          <p:nvPr/>
        </p:nvSpPr>
        <p:spPr>
          <a:xfrm>
            <a:off x="621830" y="3259728"/>
            <a:ext cx="1148700" cy="52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3"/>
              <a:buFont typeface="Georgia"/>
              <a:buNone/>
            </a:pPr>
            <a:r>
              <a:rPr b="1" lang="en-US" sz="2303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b="0" i="0" sz="230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3"/>
          <p:cNvSpPr/>
          <p:nvPr/>
        </p:nvSpPr>
        <p:spPr>
          <a:xfrm>
            <a:off x="456774" y="1280050"/>
            <a:ext cx="4115400" cy="3350100"/>
          </a:xfrm>
          <a:prstGeom prst="roundRect">
            <a:avLst>
              <a:gd fmla="val 3429" name="adj"/>
            </a:avLst>
          </a:prstGeom>
          <a:solidFill>
            <a:srgbClr val="FFFFFF"/>
          </a:solidFill>
          <a:ln cap="flat" cmpd="sng" w="9975">
            <a:solidFill>
              <a:srgbClr val="E3E6E9"/>
            </a:solidFill>
            <a:prstDash val="solid"/>
            <a:round/>
            <a:headEnd len="sm" w="sm" type="none"/>
            <a:tailEnd len="sm" w="sm" type="none"/>
          </a:ln>
          <a:effectLst>
            <a:outerShdw blurRad="106348" rotWithShape="0" algn="bl" dir="5400000" dist="26587">
              <a:srgbClr val="000000">
                <a:alpha val="12160"/>
              </a:srgbClr>
            </a:outerShdw>
          </a:effectLst>
        </p:spPr>
        <p:txBody>
          <a:bodyPr anchorCtr="0" anchor="ctr" bIns="95700" lIns="95700" spcFirstLastPara="1" rIns="95700" wrap="square" tIns="9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3"/>
          <p:cNvSpPr/>
          <p:nvPr/>
        </p:nvSpPr>
        <p:spPr>
          <a:xfrm>
            <a:off x="1942985" y="2670912"/>
            <a:ext cx="1184700" cy="1826400"/>
          </a:xfrm>
          <a:prstGeom prst="rect">
            <a:avLst/>
          </a:prstGeom>
          <a:solidFill>
            <a:srgbClr val="E9A23B"/>
          </a:solidFill>
          <a:ln cap="flat" cmpd="sng" w="13700">
            <a:solidFill>
              <a:srgbClr val="E9A2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8700" lIns="98700" spcFirstLastPara="1" rIns="98700" wrap="square" tIns="98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11"/>
          </a:p>
        </p:txBody>
      </p:sp>
      <p:sp>
        <p:nvSpPr>
          <p:cNvPr id="270" name="Google Shape;270;p13"/>
          <p:cNvSpPr/>
          <p:nvPr/>
        </p:nvSpPr>
        <p:spPr>
          <a:xfrm>
            <a:off x="575096" y="3213836"/>
            <a:ext cx="1184700" cy="1283100"/>
          </a:xfrm>
          <a:prstGeom prst="rect">
            <a:avLst/>
          </a:prstGeom>
          <a:solidFill>
            <a:srgbClr val="9AA5B1"/>
          </a:solidFill>
          <a:ln cap="flat" cmpd="sng" w="13700">
            <a:solidFill>
              <a:srgbClr val="9AA5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8700" lIns="98700" spcFirstLastPara="1" rIns="98700" wrap="square" tIns="98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11"/>
          </a:p>
        </p:txBody>
      </p:sp>
      <p:sp>
        <p:nvSpPr>
          <p:cNvPr id="271" name="Google Shape;271;p13"/>
          <p:cNvSpPr/>
          <p:nvPr/>
        </p:nvSpPr>
        <p:spPr>
          <a:xfrm>
            <a:off x="3261781" y="3509977"/>
            <a:ext cx="1184700" cy="987000"/>
          </a:xfrm>
          <a:prstGeom prst="rect">
            <a:avLst/>
          </a:prstGeom>
          <a:solidFill>
            <a:srgbClr val="B07A4F"/>
          </a:solidFill>
          <a:ln cap="flat" cmpd="sng" w="13700">
            <a:solidFill>
              <a:srgbClr val="B07A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8700" lIns="98700" spcFirstLastPara="1" rIns="98700" wrap="square" tIns="98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3"/>
          <p:cNvSpPr txBox="1"/>
          <p:nvPr/>
        </p:nvSpPr>
        <p:spPr>
          <a:xfrm>
            <a:off x="1924433" y="2126103"/>
            <a:ext cx="1244100" cy="478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F2A33"/>
              </a:buClr>
              <a:buSzPts val="1256"/>
              <a:buFont typeface="Calibri"/>
              <a:buNone/>
            </a:pPr>
            <a:r>
              <a:rPr b="1" lang="en-US" sz="1256">
                <a:solidFill>
                  <a:srgbClr val="1F2A33"/>
                </a:solidFill>
                <a:latin typeface="Calibri"/>
                <a:ea typeface="Calibri"/>
                <a:cs typeface="Calibri"/>
                <a:sym typeface="Calibri"/>
              </a:rPr>
              <a:t>Portugal</a:t>
            </a:r>
            <a:endParaRPr sz="125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1151"/>
              <a:buFont typeface="Calibri"/>
              <a:buNone/>
            </a:pPr>
            <a:r>
              <a:rPr lang="en-US" sz="1151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152.8 kg</a:t>
            </a:r>
            <a:endParaRPr b="1" sz="1256">
              <a:solidFill>
                <a:srgbClr val="1F2A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3"/>
          <p:cNvSpPr txBox="1"/>
          <p:nvPr/>
        </p:nvSpPr>
        <p:spPr>
          <a:xfrm>
            <a:off x="579734" y="2696327"/>
            <a:ext cx="1244100" cy="478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1151"/>
              <a:buFont typeface="Calibri"/>
              <a:buNone/>
            </a:pPr>
            <a:r>
              <a:rPr b="1" lang="en-US" sz="1256">
                <a:solidFill>
                  <a:srgbClr val="1F2A33"/>
                </a:solidFill>
                <a:latin typeface="Calibri"/>
                <a:ea typeface="Calibri"/>
                <a:cs typeface="Calibri"/>
                <a:sym typeface="Calibri"/>
              </a:rPr>
              <a:t>Spain</a:t>
            </a:r>
            <a:endParaRPr sz="125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1151"/>
              <a:buFont typeface="Calibri"/>
              <a:buNone/>
            </a:pPr>
            <a:r>
              <a:rPr lang="en-US" sz="1151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137.7 kg</a:t>
            </a:r>
            <a:endParaRPr sz="1151">
              <a:solidFill>
                <a:srgbClr val="5F6B7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3"/>
          <p:cNvSpPr txBox="1"/>
          <p:nvPr/>
        </p:nvSpPr>
        <p:spPr>
          <a:xfrm>
            <a:off x="3221253" y="2970388"/>
            <a:ext cx="1244100" cy="478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A33"/>
              </a:buClr>
              <a:buSzPts val="1256"/>
              <a:buFont typeface="Calibri"/>
              <a:buNone/>
            </a:pPr>
            <a:r>
              <a:rPr b="1" i="0" lang="en-US" sz="1256" u="none" cap="none" strike="noStrike">
                <a:solidFill>
                  <a:srgbClr val="1F2A33"/>
                </a:solidFill>
                <a:latin typeface="Calibri"/>
                <a:ea typeface="Calibri"/>
                <a:cs typeface="Calibri"/>
                <a:sym typeface="Calibri"/>
              </a:rPr>
              <a:t>Argentina</a:t>
            </a:r>
            <a:endParaRPr b="0" i="0" sz="125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6B76"/>
              </a:buClr>
              <a:buSzPts val="1151"/>
              <a:buFont typeface="Calibri"/>
              <a:buNone/>
            </a:pPr>
            <a:r>
              <a:rPr b="0" i="0" lang="en-US" sz="1151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122.1 kg</a:t>
            </a:r>
            <a:endParaRPr b="0" i="0" sz="125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3"/>
          <p:cNvSpPr txBox="1"/>
          <p:nvPr>
            <p:ph idx="4294967295" type="sldNum"/>
          </p:nvPr>
        </p:nvSpPr>
        <p:spPr>
          <a:xfrm>
            <a:off x="8232827" y="4742968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5F6B7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3"/>
          <p:cNvSpPr/>
          <p:nvPr/>
        </p:nvSpPr>
        <p:spPr>
          <a:xfrm>
            <a:off x="5060881" y="1226068"/>
            <a:ext cx="3355800" cy="454500"/>
          </a:xfrm>
          <a:prstGeom prst="roundRect">
            <a:avLst>
              <a:gd fmla="val 19355" name="adj"/>
            </a:avLst>
          </a:prstGeom>
          <a:solidFill>
            <a:srgbClr val="FFFFFF"/>
          </a:solidFill>
          <a:ln cap="flat" cmpd="sng" w="7625">
            <a:solidFill>
              <a:srgbClr val="E3E6E9"/>
            </a:solidFill>
            <a:prstDash val="solid"/>
            <a:round/>
            <a:headEnd len="sm" w="sm" type="none"/>
            <a:tailEnd len="sm" w="sm" type="none"/>
          </a:ln>
          <a:effectLst>
            <a:outerShdw blurRad="81455" rotWithShape="0" algn="bl" dir="5400000" dist="20364">
              <a:srgbClr val="000000">
                <a:alpha val="12160"/>
              </a:srgbClr>
            </a:outerShdw>
          </a:effectLst>
        </p:spPr>
        <p:txBody>
          <a:bodyPr anchorCtr="0" anchor="ctr" bIns="73300" lIns="73300" spcFirstLastPara="1" rIns="73300" wrap="square" tIns="73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3"/>
          <p:cNvSpPr/>
          <p:nvPr/>
        </p:nvSpPr>
        <p:spPr>
          <a:xfrm>
            <a:off x="5153465" y="1321371"/>
            <a:ext cx="264000" cy="264000"/>
          </a:xfrm>
          <a:prstGeom prst="ellipse">
            <a:avLst/>
          </a:prstGeom>
          <a:solidFill>
            <a:srgbClr val="E9A23B"/>
          </a:solidFill>
          <a:ln cap="flat" cmpd="sng" w="10175">
            <a:solidFill>
              <a:srgbClr val="E9A2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300" lIns="73300" spcFirstLastPara="1" rIns="73300" wrap="square" tIns="73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3"/>
          <p:cNvSpPr txBox="1"/>
          <p:nvPr/>
        </p:nvSpPr>
        <p:spPr>
          <a:xfrm>
            <a:off x="5078725" y="1187150"/>
            <a:ext cx="413400" cy="49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42"/>
              <a:buFont typeface="Georgia"/>
              <a:buNone/>
            </a:pPr>
            <a:r>
              <a:rPr b="1" lang="en-US" sz="1042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endParaRPr b="0" i="0" sz="10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3"/>
          <p:cNvSpPr txBox="1"/>
          <p:nvPr/>
        </p:nvSpPr>
        <p:spPr>
          <a:xfrm>
            <a:off x="5739882" y="1226023"/>
            <a:ext cx="2676900" cy="4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3"/>
              </a:buClr>
              <a:buSzPts val="1002"/>
              <a:buFont typeface="Calibri"/>
              <a:buNone/>
            </a:pPr>
            <a:r>
              <a:rPr b="1" lang="en-US" sz="1202">
                <a:solidFill>
                  <a:srgbClr val="1F2A33"/>
                </a:solidFill>
                <a:latin typeface="Calibri"/>
                <a:ea typeface="Calibri"/>
                <a:cs typeface="Calibri"/>
                <a:sym typeface="Calibri"/>
              </a:rPr>
              <a:t>France</a:t>
            </a:r>
            <a:endParaRPr b="1" sz="1202">
              <a:solidFill>
                <a:srgbClr val="1F2A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3"/>
          <p:cNvSpPr/>
          <p:nvPr/>
        </p:nvSpPr>
        <p:spPr>
          <a:xfrm>
            <a:off x="5060813" y="1715774"/>
            <a:ext cx="3355800" cy="454500"/>
          </a:xfrm>
          <a:prstGeom prst="roundRect">
            <a:avLst>
              <a:gd fmla="val 19355" name="adj"/>
            </a:avLst>
          </a:prstGeom>
          <a:solidFill>
            <a:srgbClr val="FFFFFF"/>
          </a:solidFill>
          <a:ln cap="flat" cmpd="sng" w="7625">
            <a:solidFill>
              <a:srgbClr val="E3E6E9"/>
            </a:solidFill>
            <a:prstDash val="solid"/>
            <a:round/>
            <a:headEnd len="sm" w="sm" type="none"/>
            <a:tailEnd len="sm" w="sm" type="none"/>
          </a:ln>
          <a:effectLst>
            <a:outerShdw blurRad="81455" rotWithShape="0" algn="bl" dir="5400000" dist="20364">
              <a:srgbClr val="000000">
                <a:alpha val="12160"/>
              </a:srgbClr>
            </a:outerShdw>
          </a:effectLst>
        </p:spPr>
        <p:txBody>
          <a:bodyPr anchorCtr="0" anchor="ctr" bIns="73300" lIns="73300" spcFirstLastPara="1" rIns="73300" wrap="square" tIns="73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3"/>
          <p:cNvSpPr/>
          <p:nvPr/>
        </p:nvSpPr>
        <p:spPr>
          <a:xfrm>
            <a:off x="5153397" y="1811077"/>
            <a:ext cx="264000" cy="264000"/>
          </a:xfrm>
          <a:prstGeom prst="ellipse">
            <a:avLst/>
          </a:prstGeom>
          <a:solidFill>
            <a:srgbClr val="E9A23B"/>
          </a:solidFill>
          <a:ln cap="flat" cmpd="sng" w="10175">
            <a:solidFill>
              <a:srgbClr val="E9A2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300" lIns="73300" spcFirstLastPara="1" rIns="73300" wrap="square" tIns="73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3"/>
          <p:cNvSpPr txBox="1"/>
          <p:nvPr/>
        </p:nvSpPr>
        <p:spPr>
          <a:xfrm>
            <a:off x="5078675" y="1695101"/>
            <a:ext cx="413400" cy="4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42"/>
              <a:buFont typeface="Georgia"/>
              <a:buNone/>
            </a:pPr>
            <a:r>
              <a:rPr b="1" lang="en-US" sz="1042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5</a:t>
            </a:r>
            <a:endParaRPr b="0" i="0" sz="10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3"/>
          <p:cNvSpPr txBox="1"/>
          <p:nvPr/>
        </p:nvSpPr>
        <p:spPr>
          <a:xfrm>
            <a:off x="5739814" y="1715728"/>
            <a:ext cx="2676900" cy="4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3"/>
              </a:buClr>
              <a:buSzPts val="1002"/>
              <a:buFont typeface="Calibri"/>
              <a:buNone/>
            </a:pPr>
            <a:r>
              <a:rPr b="1" lang="en-US" sz="1202">
                <a:solidFill>
                  <a:srgbClr val="1F2A33"/>
                </a:solidFill>
                <a:latin typeface="Calibri"/>
                <a:ea typeface="Calibri"/>
                <a:cs typeface="Calibri"/>
                <a:sym typeface="Calibri"/>
              </a:rPr>
              <a:t>Brazil</a:t>
            </a:r>
            <a:endParaRPr b="0" i="0" sz="120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3"/>
          <p:cNvSpPr/>
          <p:nvPr/>
        </p:nvSpPr>
        <p:spPr>
          <a:xfrm>
            <a:off x="5060858" y="2205513"/>
            <a:ext cx="3355800" cy="454500"/>
          </a:xfrm>
          <a:prstGeom prst="roundRect">
            <a:avLst>
              <a:gd fmla="val 19355" name="adj"/>
            </a:avLst>
          </a:prstGeom>
          <a:solidFill>
            <a:srgbClr val="FFFFFF"/>
          </a:solidFill>
          <a:ln cap="flat" cmpd="sng" w="7625">
            <a:solidFill>
              <a:srgbClr val="E3E6E9"/>
            </a:solidFill>
            <a:prstDash val="solid"/>
            <a:round/>
            <a:headEnd len="sm" w="sm" type="none"/>
            <a:tailEnd len="sm" w="sm" type="none"/>
          </a:ln>
          <a:effectLst>
            <a:outerShdw blurRad="81455" rotWithShape="0" algn="bl" dir="5400000" dist="20364">
              <a:srgbClr val="000000">
                <a:alpha val="12160"/>
              </a:srgbClr>
            </a:outerShdw>
          </a:effectLst>
        </p:spPr>
        <p:txBody>
          <a:bodyPr anchorCtr="0" anchor="ctr" bIns="73300" lIns="73300" spcFirstLastPara="1" rIns="73300" wrap="square" tIns="73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3"/>
          <p:cNvSpPr/>
          <p:nvPr/>
        </p:nvSpPr>
        <p:spPr>
          <a:xfrm>
            <a:off x="5153443" y="2300816"/>
            <a:ext cx="264000" cy="264000"/>
          </a:xfrm>
          <a:prstGeom prst="ellipse">
            <a:avLst/>
          </a:prstGeom>
          <a:solidFill>
            <a:srgbClr val="E9A23B"/>
          </a:solidFill>
          <a:ln cap="flat" cmpd="sng" w="10175">
            <a:solidFill>
              <a:srgbClr val="E9A2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300" lIns="73300" spcFirstLastPara="1" rIns="73300" wrap="square" tIns="73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3"/>
          <p:cNvSpPr txBox="1"/>
          <p:nvPr/>
        </p:nvSpPr>
        <p:spPr>
          <a:xfrm>
            <a:off x="5078725" y="2184924"/>
            <a:ext cx="413400" cy="4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42"/>
              <a:buFont typeface="Georgia"/>
              <a:buNone/>
            </a:pPr>
            <a:r>
              <a:rPr b="1" lang="en-US" sz="1042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6</a:t>
            </a:r>
            <a:endParaRPr b="0" i="0" sz="10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3"/>
          <p:cNvSpPr txBox="1"/>
          <p:nvPr/>
        </p:nvSpPr>
        <p:spPr>
          <a:xfrm>
            <a:off x="5739859" y="2205468"/>
            <a:ext cx="2676900" cy="4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3"/>
              </a:buClr>
              <a:buSzPts val="1002"/>
              <a:buFont typeface="Calibri"/>
              <a:buNone/>
            </a:pPr>
            <a:r>
              <a:rPr b="1" lang="en-US" sz="1002">
                <a:solidFill>
                  <a:srgbClr val="1F2A33"/>
                </a:solidFill>
                <a:latin typeface="Calibri"/>
                <a:ea typeface="Calibri"/>
                <a:cs typeface="Calibri"/>
                <a:sym typeface="Calibri"/>
              </a:rPr>
              <a:t>United Kingdom</a:t>
            </a:r>
            <a:endParaRPr b="0" i="0" sz="100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3"/>
          <p:cNvSpPr/>
          <p:nvPr/>
        </p:nvSpPr>
        <p:spPr>
          <a:xfrm>
            <a:off x="5060790" y="2695219"/>
            <a:ext cx="3355800" cy="454500"/>
          </a:xfrm>
          <a:prstGeom prst="roundRect">
            <a:avLst>
              <a:gd fmla="val 19355" name="adj"/>
            </a:avLst>
          </a:prstGeom>
          <a:solidFill>
            <a:srgbClr val="FFFFFF"/>
          </a:solidFill>
          <a:ln cap="flat" cmpd="sng" w="7625">
            <a:solidFill>
              <a:srgbClr val="E3E6E9"/>
            </a:solidFill>
            <a:prstDash val="solid"/>
            <a:round/>
            <a:headEnd len="sm" w="sm" type="none"/>
            <a:tailEnd len="sm" w="sm" type="none"/>
          </a:ln>
          <a:effectLst>
            <a:outerShdw blurRad="81455" rotWithShape="0" algn="bl" dir="5400000" dist="20364">
              <a:srgbClr val="000000">
                <a:alpha val="12160"/>
              </a:srgbClr>
            </a:outerShdw>
          </a:effectLst>
        </p:spPr>
        <p:txBody>
          <a:bodyPr anchorCtr="0" anchor="ctr" bIns="73300" lIns="73300" spcFirstLastPara="1" rIns="73300" wrap="square" tIns="73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3"/>
          <p:cNvSpPr/>
          <p:nvPr/>
        </p:nvSpPr>
        <p:spPr>
          <a:xfrm>
            <a:off x="5153375" y="2790522"/>
            <a:ext cx="264000" cy="264000"/>
          </a:xfrm>
          <a:prstGeom prst="ellipse">
            <a:avLst/>
          </a:prstGeom>
          <a:solidFill>
            <a:srgbClr val="E9A23B"/>
          </a:solidFill>
          <a:ln cap="flat" cmpd="sng" w="10175">
            <a:solidFill>
              <a:srgbClr val="E9A2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300" lIns="73300" spcFirstLastPara="1" rIns="73300" wrap="square" tIns="73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3"/>
          <p:cNvSpPr txBox="1"/>
          <p:nvPr/>
        </p:nvSpPr>
        <p:spPr>
          <a:xfrm>
            <a:off x="5078650" y="2674551"/>
            <a:ext cx="413400" cy="4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42"/>
              <a:buFont typeface="Georgia"/>
              <a:buNone/>
            </a:pPr>
            <a:r>
              <a:rPr b="1" lang="en-US" sz="1042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7</a:t>
            </a:r>
            <a:endParaRPr b="0" i="0" sz="10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3"/>
          <p:cNvSpPr txBox="1"/>
          <p:nvPr/>
        </p:nvSpPr>
        <p:spPr>
          <a:xfrm>
            <a:off x="5739791" y="2695174"/>
            <a:ext cx="2676900" cy="4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F2A33"/>
              </a:buClr>
              <a:buSzPts val="1002"/>
              <a:buFont typeface="Calibri"/>
              <a:buNone/>
            </a:pPr>
            <a:r>
              <a:rPr b="1" lang="en-US" sz="1202">
                <a:solidFill>
                  <a:srgbClr val="1F2A33"/>
                </a:solidFill>
                <a:latin typeface="Calibri"/>
                <a:ea typeface="Calibri"/>
                <a:cs typeface="Calibri"/>
                <a:sym typeface="Calibri"/>
              </a:rPr>
              <a:t>Italy</a:t>
            </a:r>
            <a:endParaRPr b="1" sz="1202">
              <a:solidFill>
                <a:srgbClr val="1F2A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3"/>
          <p:cNvSpPr/>
          <p:nvPr/>
        </p:nvSpPr>
        <p:spPr>
          <a:xfrm>
            <a:off x="5060858" y="3184981"/>
            <a:ext cx="3355800" cy="454500"/>
          </a:xfrm>
          <a:prstGeom prst="roundRect">
            <a:avLst>
              <a:gd fmla="val 19355" name="adj"/>
            </a:avLst>
          </a:prstGeom>
          <a:solidFill>
            <a:srgbClr val="FFFFFF"/>
          </a:solidFill>
          <a:ln cap="flat" cmpd="sng" w="7625">
            <a:solidFill>
              <a:srgbClr val="E3E6E9"/>
            </a:solidFill>
            <a:prstDash val="solid"/>
            <a:round/>
            <a:headEnd len="sm" w="sm" type="none"/>
            <a:tailEnd len="sm" w="sm" type="none"/>
          </a:ln>
          <a:effectLst>
            <a:outerShdw blurRad="81455" rotWithShape="0" algn="bl" dir="5400000" dist="20364">
              <a:srgbClr val="000000">
                <a:alpha val="12160"/>
              </a:srgbClr>
            </a:outerShdw>
          </a:effectLst>
        </p:spPr>
        <p:txBody>
          <a:bodyPr anchorCtr="0" anchor="ctr" bIns="73300" lIns="73300" spcFirstLastPara="1" rIns="73300" wrap="square" tIns="73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3"/>
          <p:cNvSpPr/>
          <p:nvPr/>
        </p:nvSpPr>
        <p:spPr>
          <a:xfrm>
            <a:off x="5153443" y="3280284"/>
            <a:ext cx="264000" cy="264000"/>
          </a:xfrm>
          <a:prstGeom prst="ellipse">
            <a:avLst/>
          </a:prstGeom>
          <a:solidFill>
            <a:srgbClr val="E9A23B"/>
          </a:solidFill>
          <a:ln cap="flat" cmpd="sng" w="10175">
            <a:solidFill>
              <a:srgbClr val="E9A2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300" lIns="73300" spcFirstLastPara="1" rIns="73300" wrap="square" tIns="73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3"/>
          <p:cNvSpPr txBox="1"/>
          <p:nvPr/>
        </p:nvSpPr>
        <p:spPr>
          <a:xfrm>
            <a:off x="5078725" y="3164299"/>
            <a:ext cx="413400" cy="4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42"/>
              <a:buFont typeface="Georgia"/>
              <a:buNone/>
            </a:pPr>
            <a:r>
              <a:rPr b="1" lang="en-US" sz="1042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8</a:t>
            </a:r>
            <a:endParaRPr b="0" i="0" sz="10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3"/>
          <p:cNvSpPr txBox="1"/>
          <p:nvPr/>
        </p:nvSpPr>
        <p:spPr>
          <a:xfrm>
            <a:off x="5739859" y="3184936"/>
            <a:ext cx="2676900" cy="4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F2A33"/>
              </a:buClr>
              <a:buSzPts val="1002"/>
              <a:buFont typeface="Calibri"/>
              <a:buNone/>
            </a:pPr>
            <a:r>
              <a:rPr b="1" lang="en-US" sz="1202">
                <a:solidFill>
                  <a:srgbClr val="1F2A33"/>
                </a:solidFill>
                <a:latin typeface="Calibri"/>
                <a:ea typeface="Calibri"/>
                <a:cs typeface="Calibri"/>
                <a:sym typeface="Calibri"/>
              </a:rPr>
              <a:t>Netherlands</a:t>
            </a:r>
            <a:endParaRPr b="1" sz="1202">
              <a:solidFill>
                <a:srgbClr val="1F2A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3"/>
          <p:cNvSpPr/>
          <p:nvPr/>
        </p:nvSpPr>
        <p:spPr>
          <a:xfrm>
            <a:off x="5060790" y="3674687"/>
            <a:ext cx="3355800" cy="454500"/>
          </a:xfrm>
          <a:prstGeom prst="roundRect">
            <a:avLst>
              <a:gd fmla="val 19355" name="adj"/>
            </a:avLst>
          </a:prstGeom>
          <a:solidFill>
            <a:srgbClr val="FFFFFF"/>
          </a:solidFill>
          <a:ln cap="flat" cmpd="sng" w="7625">
            <a:solidFill>
              <a:srgbClr val="E3E6E9"/>
            </a:solidFill>
            <a:prstDash val="solid"/>
            <a:round/>
            <a:headEnd len="sm" w="sm" type="none"/>
            <a:tailEnd len="sm" w="sm" type="none"/>
          </a:ln>
          <a:effectLst>
            <a:outerShdw blurRad="81455" rotWithShape="0" algn="bl" dir="5400000" dist="20364">
              <a:srgbClr val="000000">
                <a:alpha val="12160"/>
              </a:srgbClr>
            </a:outerShdw>
          </a:effectLst>
        </p:spPr>
        <p:txBody>
          <a:bodyPr anchorCtr="0" anchor="ctr" bIns="73300" lIns="73300" spcFirstLastPara="1" rIns="73300" wrap="square" tIns="73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3"/>
          <p:cNvSpPr/>
          <p:nvPr/>
        </p:nvSpPr>
        <p:spPr>
          <a:xfrm>
            <a:off x="5153375" y="3769990"/>
            <a:ext cx="264000" cy="264000"/>
          </a:xfrm>
          <a:prstGeom prst="ellipse">
            <a:avLst/>
          </a:prstGeom>
          <a:solidFill>
            <a:srgbClr val="E9A23B"/>
          </a:solidFill>
          <a:ln cap="flat" cmpd="sng" w="10175">
            <a:solidFill>
              <a:srgbClr val="E9A2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300" lIns="73300" spcFirstLastPara="1" rIns="73300" wrap="square" tIns="73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3"/>
          <p:cNvSpPr txBox="1"/>
          <p:nvPr/>
        </p:nvSpPr>
        <p:spPr>
          <a:xfrm>
            <a:off x="5056675" y="3656475"/>
            <a:ext cx="457200" cy="4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42"/>
              <a:buFont typeface="Georgia"/>
              <a:buNone/>
            </a:pPr>
            <a:r>
              <a:rPr b="1" lang="en-US" sz="1042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9</a:t>
            </a:r>
            <a:endParaRPr b="0" i="0" sz="10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3"/>
          <p:cNvSpPr txBox="1"/>
          <p:nvPr/>
        </p:nvSpPr>
        <p:spPr>
          <a:xfrm>
            <a:off x="5779491" y="3673954"/>
            <a:ext cx="2676900" cy="4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3"/>
              </a:buClr>
              <a:buSzPts val="1002"/>
              <a:buFont typeface="Calibri"/>
              <a:buNone/>
            </a:pPr>
            <a:r>
              <a:rPr b="1" lang="en-US" sz="1202">
                <a:solidFill>
                  <a:srgbClr val="1F2A33"/>
                </a:solidFill>
                <a:latin typeface="Calibri"/>
                <a:ea typeface="Calibri"/>
                <a:cs typeface="Calibri"/>
                <a:sym typeface="Calibri"/>
              </a:rPr>
              <a:t>Ukraine</a:t>
            </a:r>
            <a:endParaRPr b="0" i="0" sz="120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3"/>
          <p:cNvSpPr/>
          <p:nvPr/>
        </p:nvSpPr>
        <p:spPr>
          <a:xfrm>
            <a:off x="5053592" y="4162945"/>
            <a:ext cx="3355800" cy="454500"/>
          </a:xfrm>
          <a:prstGeom prst="roundRect">
            <a:avLst>
              <a:gd fmla="val 19355" name="adj"/>
            </a:avLst>
          </a:prstGeom>
          <a:solidFill>
            <a:srgbClr val="FFFFFF"/>
          </a:solidFill>
          <a:ln cap="flat" cmpd="sng" w="7625">
            <a:solidFill>
              <a:srgbClr val="E3E6E9"/>
            </a:solidFill>
            <a:prstDash val="solid"/>
            <a:round/>
            <a:headEnd len="sm" w="sm" type="none"/>
            <a:tailEnd len="sm" w="sm" type="none"/>
          </a:ln>
          <a:effectLst>
            <a:outerShdw blurRad="81455" rotWithShape="0" algn="bl" dir="5400000" dist="20364">
              <a:srgbClr val="000000">
                <a:alpha val="12160"/>
              </a:srgbClr>
            </a:outerShdw>
          </a:effectLst>
        </p:spPr>
        <p:txBody>
          <a:bodyPr anchorCtr="0" anchor="ctr" bIns="73300" lIns="73300" spcFirstLastPara="1" rIns="73300" wrap="square" tIns="73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3"/>
          <p:cNvSpPr txBox="1"/>
          <p:nvPr/>
        </p:nvSpPr>
        <p:spPr>
          <a:xfrm>
            <a:off x="5741716" y="4169030"/>
            <a:ext cx="2676900" cy="4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3"/>
              </a:buClr>
              <a:buSzPts val="1002"/>
              <a:buFont typeface="Calibri"/>
              <a:buNone/>
            </a:pPr>
            <a:r>
              <a:rPr b="1" lang="en-US" sz="1202">
                <a:solidFill>
                  <a:srgbClr val="1F2A33"/>
                </a:solidFill>
                <a:latin typeface="Calibri"/>
                <a:ea typeface="Calibri"/>
                <a:cs typeface="Calibri"/>
                <a:sym typeface="Calibri"/>
              </a:rPr>
              <a:t>Iran</a:t>
            </a:r>
            <a:endParaRPr b="0" i="0" sz="120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3"/>
          <p:cNvSpPr/>
          <p:nvPr/>
        </p:nvSpPr>
        <p:spPr>
          <a:xfrm>
            <a:off x="5153415" y="4259746"/>
            <a:ext cx="264000" cy="264000"/>
          </a:xfrm>
          <a:prstGeom prst="ellipse">
            <a:avLst/>
          </a:prstGeom>
          <a:solidFill>
            <a:srgbClr val="E9A23B"/>
          </a:solidFill>
          <a:ln cap="flat" cmpd="sng" w="10175">
            <a:solidFill>
              <a:srgbClr val="E9A2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300" lIns="73300" spcFirstLastPara="1" rIns="73300" wrap="square" tIns="73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3"/>
          <p:cNvSpPr txBox="1"/>
          <p:nvPr/>
        </p:nvSpPr>
        <p:spPr>
          <a:xfrm>
            <a:off x="5056575" y="4164375"/>
            <a:ext cx="457200" cy="41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42"/>
              <a:buFont typeface="Georgia"/>
              <a:buNone/>
            </a:pPr>
            <a:r>
              <a:rPr b="1" lang="en-US" sz="1042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10</a:t>
            </a:r>
            <a:endParaRPr b="0" i="0" sz="10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4" name="Google Shape;304;p13" title="fish-animals-svgrepo-com-9aa5b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7149" y="1637799"/>
            <a:ext cx="630808" cy="6308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13" title="pig-animals-svgrepo-com-e58e9a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7948" y="2194901"/>
            <a:ext cx="656432" cy="6564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13" title="cow-animals-svgrepo-com-b5442f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86785" y="2361458"/>
            <a:ext cx="713076" cy="713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13" title="hen-animals-svgrepo-com-e9a23b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819425" y="1736313"/>
            <a:ext cx="413400" cy="4134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13" title="hen-animals-svgrepo-com-e9a23b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819425" y="2226038"/>
            <a:ext cx="413400" cy="4134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13" title="pig-animals-svgrepo-com-e58e9a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19425" y="2715788"/>
            <a:ext cx="413400" cy="4134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13" title="pig-animals-svgrepo-com-e58e9a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19425" y="3205488"/>
            <a:ext cx="413400" cy="4134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13" title="hen-animals-svgrepo-com-e9a23b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816200" y="3684238"/>
            <a:ext cx="413400" cy="4134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13" title="hen-animals-svgrepo-com-e9a23b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819425" y="4164363"/>
            <a:ext cx="413400" cy="4134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13" title="down_1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662349" y="2317232"/>
            <a:ext cx="602650" cy="222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13" title="down_2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159738" y="3093462"/>
            <a:ext cx="630811" cy="23241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13" title="down_3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100050" y="1830575"/>
            <a:ext cx="602650" cy="222033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13" title="same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057909" y="4308850"/>
            <a:ext cx="602650" cy="222029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13" title="up_1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85237" y="2798100"/>
            <a:ext cx="630811" cy="23240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13" title="up_2.png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6203265" y="1352880"/>
            <a:ext cx="602650" cy="222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13" title="up_3.pn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875991" y="2228735"/>
            <a:ext cx="630811" cy="23240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13" title="same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323272" y="3803265"/>
            <a:ext cx="602650" cy="222029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13" title="up_1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045507" y="2811492"/>
            <a:ext cx="602650" cy="222029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13" title="down_1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497008" y="3308988"/>
            <a:ext cx="602650" cy="222018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13"/>
          <p:cNvSpPr txBox="1"/>
          <p:nvPr/>
        </p:nvSpPr>
        <p:spPr>
          <a:xfrm>
            <a:off x="404866" y="1338278"/>
            <a:ext cx="4244700" cy="29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A33"/>
              </a:buClr>
              <a:buSzPts val="1403"/>
              <a:buFont typeface="Calibri"/>
              <a:buNone/>
            </a:pPr>
            <a:r>
              <a:rPr b="1" lang="en-US" sz="1403">
                <a:solidFill>
                  <a:srgbClr val="1F2A33"/>
                </a:solidFill>
                <a:latin typeface="Calibri"/>
                <a:ea typeface="Calibri"/>
                <a:cs typeface="Calibri"/>
                <a:sym typeface="Calibri"/>
              </a:rPr>
              <a:t>Top 3 in our cohort with fish</a:t>
            </a:r>
            <a:endParaRPr b="0" i="0" sz="140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4" name="Google Shape;324;p13" title="pig-animals-svgrepo-com-e58e9a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16200" y="1267125"/>
            <a:ext cx="413400" cy="413420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13"/>
          <p:cNvSpPr txBox="1"/>
          <p:nvPr/>
        </p:nvSpPr>
        <p:spPr>
          <a:xfrm>
            <a:off x="1915591" y="2670912"/>
            <a:ext cx="1184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75"/>
              <a:buFont typeface="Georgia"/>
              <a:buNone/>
            </a:pPr>
            <a:r>
              <a:rPr b="1" lang="en-US" sz="2375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b="0" i="0" sz="23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3"/>
          <p:cNvSpPr txBox="1"/>
          <p:nvPr/>
        </p:nvSpPr>
        <p:spPr>
          <a:xfrm>
            <a:off x="575096" y="3213836"/>
            <a:ext cx="1184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75"/>
              <a:buFont typeface="Georgia"/>
              <a:buNone/>
            </a:pPr>
            <a:r>
              <a:rPr b="1" lang="en-US" sz="2375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b="0" i="0" sz="23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3"/>
          <p:cNvSpPr txBox="1"/>
          <p:nvPr/>
        </p:nvSpPr>
        <p:spPr>
          <a:xfrm>
            <a:off x="3261781" y="3509977"/>
            <a:ext cx="1184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75"/>
              <a:buFont typeface="Georgia"/>
              <a:buNone/>
            </a:pPr>
            <a:r>
              <a:rPr b="1" i="0" lang="en-US" sz="2375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b="0" i="0" sz="23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4"/>
          <p:cNvSpPr txBox="1"/>
          <p:nvPr/>
        </p:nvSpPr>
        <p:spPr>
          <a:xfrm>
            <a:off x="548640" y="274320"/>
            <a:ext cx="8046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442F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4"/>
          <p:cNvSpPr txBox="1"/>
          <p:nvPr/>
        </p:nvSpPr>
        <p:spPr>
          <a:xfrm>
            <a:off x="548640" y="548640"/>
            <a:ext cx="8046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3"/>
              </a:buClr>
              <a:buSzPts val="2400"/>
              <a:buFont typeface="Georgia"/>
              <a:buNone/>
            </a:pPr>
            <a:r>
              <a:rPr b="1" lang="en-US" sz="2400">
                <a:solidFill>
                  <a:srgbClr val="1F2A33"/>
                </a:solidFill>
                <a:latin typeface="Georgia"/>
                <a:ea typeface="Georgia"/>
                <a:cs typeface="Georgia"/>
                <a:sym typeface="Georgia"/>
              </a:rPr>
              <a:t>Conclusions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4"/>
          <p:cNvSpPr/>
          <p:nvPr/>
        </p:nvSpPr>
        <p:spPr>
          <a:xfrm>
            <a:off x="548640" y="1371600"/>
            <a:ext cx="8046720" cy="566928"/>
          </a:xfrm>
          <a:prstGeom prst="roundRect">
            <a:avLst>
              <a:gd fmla="val 19355" name="adj"/>
            </a:avLst>
          </a:prstGeom>
          <a:solidFill>
            <a:srgbClr val="FFFFFF"/>
          </a:solidFill>
          <a:ln cap="flat" cmpd="sng" w="9525">
            <a:solidFill>
              <a:srgbClr val="E3E6E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4"/>
          <p:cNvSpPr/>
          <p:nvPr/>
        </p:nvSpPr>
        <p:spPr>
          <a:xfrm>
            <a:off x="713232" y="1490472"/>
            <a:ext cx="329184" cy="329184"/>
          </a:xfrm>
          <a:prstGeom prst="ellipse">
            <a:avLst/>
          </a:prstGeom>
          <a:solidFill>
            <a:srgbClr val="B5442F"/>
          </a:solidFill>
          <a:ln cap="flat" cmpd="sng" w="12700">
            <a:solidFill>
              <a:srgbClr val="B544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4"/>
          <p:cNvSpPr txBox="1"/>
          <p:nvPr/>
        </p:nvSpPr>
        <p:spPr>
          <a:xfrm>
            <a:off x="713232" y="1490472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4"/>
          <p:cNvSpPr txBox="1"/>
          <p:nvPr/>
        </p:nvSpPr>
        <p:spPr>
          <a:xfrm>
            <a:off x="1234440" y="1371600"/>
            <a:ext cx="72237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3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F2A33"/>
                </a:solidFill>
                <a:latin typeface="Calibri"/>
                <a:ea typeface="Calibri"/>
                <a:cs typeface="Calibri"/>
                <a:sym typeface="Calibri"/>
              </a:rPr>
              <a:t>Big gaps between continents  </a:t>
            </a:r>
            <a:r>
              <a:rPr b="0" i="0" lang="en-US" sz="125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North America (100.8 kg) eats about six times more meat per person than Africa (16.7 kg).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4"/>
          <p:cNvSpPr/>
          <p:nvPr/>
        </p:nvSpPr>
        <p:spPr>
          <a:xfrm>
            <a:off x="548640" y="2011680"/>
            <a:ext cx="8046720" cy="566928"/>
          </a:xfrm>
          <a:prstGeom prst="roundRect">
            <a:avLst>
              <a:gd fmla="val 19355" name="adj"/>
            </a:avLst>
          </a:prstGeom>
          <a:solidFill>
            <a:srgbClr val="FFFFFF"/>
          </a:solidFill>
          <a:ln cap="flat" cmpd="sng" w="9525">
            <a:solidFill>
              <a:srgbClr val="E3E6E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4"/>
          <p:cNvSpPr/>
          <p:nvPr/>
        </p:nvSpPr>
        <p:spPr>
          <a:xfrm>
            <a:off x="713232" y="2130552"/>
            <a:ext cx="329184" cy="329184"/>
          </a:xfrm>
          <a:prstGeom prst="ellipse">
            <a:avLst/>
          </a:prstGeom>
          <a:solidFill>
            <a:srgbClr val="B5442F"/>
          </a:solidFill>
          <a:ln cap="flat" cmpd="sng" w="12700">
            <a:solidFill>
              <a:srgbClr val="B544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4"/>
          <p:cNvSpPr txBox="1"/>
          <p:nvPr/>
        </p:nvSpPr>
        <p:spPr>
          <a:xfrm>
            <a:off x="713232" y="2130552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4"/>
          <p:cNvSpPr txBox="1"/>
          <p:nvPr/>
        </p:nvSpPr>
        <p:spPr>
          <a:xfrm>
            <a:off x="1234440" y="2011680"/>
            <a:ext cx="72237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3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F2A33"/>
                </a:solidFill>
                <a:latin typeface="Calibri"/>
                <a:ea typeface="Calibri"/>
                <a:cs typeface="Calibri"/>
                <a:sym typeface="Calibri"/>
              </a:rPr>
              <a:t>Poultry leads, pork follows  </a:t>
            </a:r>
            <a:r>
              <a:rPr b="0" i="0" lang="en-US" sz="125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Poultry is the top meat in the Americas, Oceania and Africa; pork leads in Europe and Asia.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4"/>
          <p:cNvSpPr/>
          <p:nvPr/>
        </p:nvSpPr>
        <p:spPr>
          <a:xfrm>
            <a:off x="548640" y="2651760"/>
            <a:ext cx="8046720" cy="566928"/>
          </a:xfrm>
          <a:prstGeom prst="roundRect">
            <a:avLst>
              <a:gd fmla="val 19355" name="adj"/>
            </a:avLst>
          </a:prstGeom>
          <a:solidFill>
            <a:srgbClr val="FFFFFF"/>
          </a:solidFill>
          <a:ln cap="flat" cmpd="sng" w="9525">
            <a:solidFill>
              <a:srgbClr val="E3E6E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4"/>
          <p:cNvSpPr/>
          <p:nvPr/>
        </p:nvSpPr>
        <p:spPr>
          <a:xfrm>
            <a:off x="713232" y="2770632"/>
            <a:ext cx="329184" cy="329184"/>
          </a:xfrm>
          <a:prstGeom prst="ellipse">
            <a:avLst/>
          </a:prstGeom>
          <a:solidFill>
            <a:srgbClr val="B5442F"/>
          </a:solidFill>
          <a:ln cap="flat" cmpd="sng" w="12700">
            <a:solidFill>
              <a:srgbClr val="B544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4"/>
          <p:cNvSpPr txBox="1"/>
          <p:nvPr/>
        </p:nvSpPr>
        <p:spPr>
          <a:xfrm>
            <a:off x="713232" y="2770632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4"/>
          <p:cNvSpPr txBox="1"/>
          <p:nvPr/>
        </p:nvSpPr>
        <p:spPr>
          <a:xfrm>
            <a:off x="1234440" y="2651760"/>
            <a:ext cx="72237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3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F2A33"/>
                </a:solidFill>
                <a:latin typeface="Calibri"/>
                <a:ea typeface="Calibri"/>
                <a:cs typeface="Calibri"/>
                <a:sym typeface="Calibri"/>
              </a:rPr>
              <a:t>Asia changed the most  </a:t>
            </a:r>
            <a:r>
              <a:rPr b="0" i="0" lang="en-US" sz="125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Meat per person in Asia grew by 591% since 1960; Oceania is the only continent that declined (−4%).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4"/>
          <p:cNvSpPr/>
          <p:nvPr/>
        </p:nvSpPr>
        <p:spPr>
          <a:xfrm>
            <a:off x="548640" y="3291840"/>
            <a:ext cx="8046720" cy="566928"/>
          </a:xfrm>
          <a:prstGeom prst="roundRect">
            <a:avLst>
              <a:gd fmla="val 19355" name="adj"/>
            </a:avLst>
          </a:prstGeom>
          <a:solidFill>
            <a:srgbClr val="FFFFFF"/>
          </a:solidFill>
          <a:ln cap="flat" cmpd="sng" w="9525">
            <a:solidFill>
              <a:srgbClr val="E3E6E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4"/>
          <p:cNvSpPr/>
          <p:nvPr/>
        </p:nvSpPr>
        <p:spPr>
          <a:xfrm>
            <a:off x="713232" y="3410712"/>
            <a:ext cx="329184" cy="329184"/>
          </a:xfrm>
          <a:prstGeom prst="ellipse">
            <a:avLst/>
          </a:prstGeom>
          <a:solidFill>
            <a:srgbClr val="B5442F"/>
          </a:solidFill>
          <a:ln cap="flat" cmpd="sng" w="12700">
            <a:solidFill>
              <a:srgbClr val="B544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4"/>
          <p:cNvSpPr txBox="1"/>
          <p:nvPr/>
        </p:nvSpPr>
        <p:spPr>
          <a:xfrm>
            <a:off x="713232" y="3410712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4"/>
          <p:cNvSpPr txBox="1"/>
          <p:nvPr/>
        </p:nvSpPr>
        <p:spPr>
          <a:xfrm>
            <a:off x="1234450" y="3291825"/>
            <a:ext cx="72237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3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1F2A33"/>
                </a:solidFill>
                <a:latin typeface="Calibri"/>
                <a:ea typeface="Calibri"/>
                <a:cs typeface="Calibri"/>
                <a:sym typeface="Calibri"/>
              </a:rPr>
              <a:t>Higher income, higher meat supply</a:t>
            </a:r>
            <a:r>
              <a:rPr b="1" lang="en-US" sz="1300">
                <a:solidFill>
                  <a:schemeClr val="dk1"/>
                </a:solidFill>
              </a:rPr>
              <a:t> </a:t>
            </a:r>
            <a:r>
              <a:rPr lang="en-US" sz="1250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Countries with higher GDP per capita generally tend to have higher meat supply per person.</a:t>
            </a:r>
            <a:endParaRPr sz="1250">
              <a:solidFill>
                <a:srgbClr val="5F6B7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4"/>
          <p:cNvSpPr/>
          <p:nvPr/>
        </p:nvSpPr>
        <p:spPr>
          <a:xfrm>
            <a:off x="548640" y="3931920"/>
            <a:ext cx="8046720" cy="566928"/>
          </a:xfrm>
          <a:prstGeom prst="roundRect">
            <a:avLst>
              <a:gd fmla="val 19355" name="adj"/>
            </a:avLst>
          </a:prstGeom>
          <a:solidFill>
            <a:srgbClr val="FFFFFF"/>
          </a:solidFill>
          <a:ln cap="flat" cmpd="sng" w="9525">
            <a:solidFill>
              <a:srgbClr val="E3E6E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4"/>
          <p:cNvSpPr/>
          <p:nvPr/>
        </p:nvSpPr>
        <p:spPr>
          <a:xfrm>
            <a:off x="713232" y="4050792"/>
            <a:ext cx="329184" cy="329184"/>
          </a:xfrm>
          <a:prstGeom prst="ellipse">
            <a:avLst/>
          </a:prstGeom>
          <a:solidFill>
            <a:srgbClr val="B5442F"/>
          </a:solidFill>
          <a:ln cap="flat" cmpd="sng" w="12700">
            <a:solidFill>
              <a:srgbClr val="B544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4"/>
          <p:cNvSpPr txBox="1"/>
          <p:nvPr/>
        </p:nvSpPr>
        <p:spPr>
          <a:xfrm>
            <a:off x="713232" y="4050792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4"/>
          <p:cNvSpPr txBox="1"/>
          <p:nvPr/>
        </p:nvSpPr>
        <p:spPr>
          <a:xfrm>
            <a:off x="1234440" y="3931920"/>
            <a:ext cx="72237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3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F2A33"/>
                </a:solidFill>
                <a:latin typeface="Calibri"/>
                <a:ea typeface="Calibri"/>
                <a:cs typeface="Calibri"/>
                <a:sym typeface="Calibri"/>
              </a:rPr>
              <a:t>Next step  </a:t>
            </a:r>
            <a:r>
              <a:rPr b="0" i="0" lang="en-US" sz="125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A more detailed project could link food waste to meat consumption.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4"/>
          <p:cNvSpPr txBox="1"/>
          <p:nvPr>
            <p:ph idx="4294967295" type="sldNum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5F6B7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2A33"/>
        </a:solidFill>
      </p:bgPr>
    </p:bg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5"/>
          <p:cNvSpPr/>
          <p:nvPr/>
        </p:nvSpPr>
        <p:spPr>
          <a:xfrm>
            <a:off x="6035040" y="-1097280"/>
            <a:ext cx="4572000" cy="4572000"/>
          </a:xfrm>
          <a:prstGeom prst="ellipse">
            <a:avLst/>
          </a:prstGeom>
          <a:solidFill>
            <a:srgbClr val="FFFFFF">
              <a:alpha val="7060"/>
            </a:srgbClr>
          </a:solidFill>
          <a:ln cap="flat" cmpd="sng" w="12700">
            <a:solidFill>
              <a:srgbClr val="1F2A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5"/>
          <p:cNvSpPr/>
          <p:nvPr/>
        </p:nvSpPr>
        <p:spPr>
          <a:xfrm>
            <a:off x="7132320" y="2560320"/>
            <a:ext cx="3291900" cy="3291900"/>
          </a:xfrm>
          <a:prstGeom prst="ellipse">
            <a:avLst/>
          </a:prstGeom>
          <a:solidFill>
            <a:srgbClr val="E9A23B">
              <a:alpha val="14900"/>
            </a:srgbClr>
          </a:solidFill>
          <a:ln cap="flat" cmpd="sng" w="12700">
            <a:solidFill>
              <a:srgbClr val="1F2A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5"/>
          <p:cNvSpPr txBox="1"/>
          <p:nvPr/>
        </p:nvSpPr>
        <p:spPr>
          <a:xfrm>
            <a:off x="251745" y="310655"/>
            <a:ext cx="6400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Georg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Thank you!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5"/>
          <p:cNvSpPr txBox="1"/>
          <p:nvPr/>
        </p:nvSpPr>
        <p:spPr>
          <a:xfrm>
            <a:off x="911149" y="3977976"/>
            <a:ext cx="5082000" cy="51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DEE3"/>
              </a:buClr>
              <a:buSzPts val="2000"/>
              <a:buFont typeface="Calibri"/>
              <a:buNone/>
            </a:pPr>
            <a:r>
              <a:rPr b="1" i="0" lang="en-US" sz="2400" u="none" cap="none" strike="noStrike">
                <a:solidFill>
                  <a:srgbClr val="D9DEE3"/>
                </a:solidFill>
                <a:latin typeface="Calibri"/>
                <a:ea typeface="Calibri"/>
                <a:cs typeface="Calibri"/>
                <a:sym typeface="Calibri"/>
              </a:rPr>
              <a:t>Questions?</a:t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5"/>
          <p:cNvSpPr txBox="1"/>
          <p:nvPr/>
        </p:nvSpPr>
        <p:spPr>
          <a:xfrm>
            <a:off x="1294698" y="4638175"/>
            <a:ext cx="43149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9A23B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9A23B"/>
                </a:solidFill>
                <a:latin typeface="Calibri"/>
                <a:ea typeface="Calibri"/>
                <a:cs typeface="Calibri"/>
                <a:sym typeface="Calibri"/>
              </a:rPr>
              <a:t>Raquel Marques &amp; Effie Carvalho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5"/>
          <p:cNvSpPr txBox="1"/>
          <p:nvPr>
            <p:ph idx="4294967295" type="sldNum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5F6B76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5F6B7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7" name="Google Shape;36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79625"/>
            <a:ext cx="9144003" cy="2384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